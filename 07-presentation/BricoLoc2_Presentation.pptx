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78" r:id="rId30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9" r:id="rId31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Bonjour, nous allons vous présenter notre dossier de conception pour BricoLoc 2.0, le projet de refonte de l'architecture logicielle.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le plan de la présentation. N'hésitez pas à nous arrêter si vous avez des questions à tout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équipe a été réduite de 4 à 3 membres suite au départ de Steven. Nous avons absorbé sa charge sans retard grâce à une revue croisée systématique.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BricoLoc est une entreprise de location d'outils. Le système actuel date de 2013 et cause des pertes de clients depuis 2020. L'objectif : concevoir BricoLoc 2.0 avec une architecture moderne.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suivi une démarche structurée en 7 étapes. Chaque étape alimente la suivante : on ne conçoit rien sans avoir d'abord compris l'existant et posé les exigences.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 actuel souffre de 9 anomalies architecturales majeures. Notez en particulier : l'accès JDBC direct du front-end à la BDD, le WCF VB.NET sans code source, et le batch CSV quotidien qui génère 24h de latence sur les stocks.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points faibles identifiés et classés par criticité décroissante. Les 5 premiers sont critiques et bloquent toute évolution du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exigences non fonctionnelles classées par priorité. Performance et disponibilité sont au niveau 5/5 car ce sont les causes directes de la perte de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axes d'amélioration, chacun tracé vers les points faibles qu'il résout. C'est notre feuille de route stratégique pour la conception.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comparé 5 approches avec notre matrice multicritères. Les deux meilleures sont l'application modulaire et la messagerie temps réel. C'est la combinaison des deux que nous avons retenue.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styles architecturaux combinés : le monolithe modulaire donne la structure, l'événementiel gère les stocks en temps réel, et les APIs REST ouvrent aux partenaires. C'est pragmatique pour une équipe 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Technologies choisies via matrice multicritères. Spring Boot car maîtrisé par l'équipe. PostgreSQL car gratuit et performant. RabbitMQ car simple à opérer. Azure car compatible Microsoft et cohérent avec nos compétences.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Vue d'ensemble en 5 couches. De haut en bas : présentation (ce que voit l'utilisateur), contrôleurs (qui reçoivent les requêtes), services métier (la logique), messagerie (communication entre modules), infrastructure (base de données et cloud).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Visualisation des 9 modules en cercle vertueux. Au centre, le moteur BricoLoc 2.0. Chaque module est indépendant mais parfaitement intégré à l'écosystème.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étapes de migration progressive. L'ancien système coexiste avec le nouveau — zéro interruption de service. Durée totale estimée : 18 à 24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garde-fous pour éviter de reproduire les erreurs du système actuel. Chaque règle est tracée vers un point faible identifié.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développeur a un périmètre défini et une spécialité. Pas de conflit, charge répartie équitablement. Les 8 000 lignes de code estimées sont réalistes pour 3 personnes en 24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points clés à retenir : architecture adaptée à l'équipe, migration progressive sans coupure, et tous les problèmes actuels sont adressés. Les perspectives incluent l'expansion européenne et une application 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.png"/><Relationship Id="rId13" Type="http://schemas.openxmlformats.org/officeDocument/2006/relationships/notesSlide" Target="../notesSlides/notesSlide2.xml"/><Relationship Id="rId14" Type="http://schemas.openxmlformats.org/officeDocument/2006/relationships/slide" Target="slide3.xml"/><Relationship Id="rId15" Type="http://schemas.openxmlformats.org/officeDocument/2006/relationships/slide" Target="slide4.xml"/><Relationship Id="rId16" Type="http://schemas.openxmlformats.org/officeDocument/2006/relationships/slide" Target="slide5.xml"/><Relationship Id="rId17" Type="http://schemas.openxmlformats.org/officeDocument/2006/relationships/slide" Target="slide7.xml"/><Relationship Id="rId18" Type="http://schemas.openxmlformats.org/officeDocument/2006/relationships/slide" Target="slide8.xml"/><Relationship Id="rId19" Type="http://schemas.openxmlformats.org/officeDocument/2006/relationships/slide" Target="slide9.xml"/><Relationship Id="rId20" Type="http://schemas.openxmlformats.org/officeDocument/2006/relationships/slide" Target="slide10.xml"/><Relationship Id="rId21" Type="http://schemas.openxmlformats.org/officeDocument/2006/relationships/slide" Target="slide11.xml"/><Relationship Id="rId22" Type="http://schemas.openxmlformats.org/officeDocument/2006/relationships/slide" Target="slide12.xml"/><Relationship Id="rId23" Type="http://schemas.openxmlformats.org/officeDocument/2006/relationships/slide" Target="slide13.xml"/><Relationship Id="rId24" Type="http://schemas.openxmlformats.org/officeDocument/2006/relationships/slide" Target="slide15.xml"/><Relationship Id="rId25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5.png"/><Relationship Id="rId7" Type="http://schemas.openxmlformats.org/officeDocument/2006/relationships/image" Target="../media/image3.png"/><Relationship Id="rId8" Type="http://schemas.openxmlformats.org/officeDocument/2006/relationships/image" Target="../media/image1.png"/><Relationship Id="rId9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image" Target="../media/image8.png"/><Relationship Id="rId9" Type="http://schemas.openxmlformats.org/officeDocument/2006/relationships/image" Target="../media/image1.png"/><Relationship Id="rId10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8.png"/><Relationship Id="rId9" Type="http://schemas.openxmlformats.org/officeDocument/2006/relationships/image" Target="../media/image1.png"/><Relationship Id="rId10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05-architecture/contexte_bricoloc (2).drawio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../05-architecture/schema-infrastructure-cible-v2.drawi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2E2822"/>
                </a:solidFill>
                <a:latin typeface="Inter"/>
              </a:defRPr>
            </a:pPr>
            <a:r>
              <a:t>BricoLoc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5C5044"/>
                </a:solidFill>
                <a:latin typeface="Inter"/>
              </a:defRPr>
            </a:pPr>
            <a:r>
              <a:t>Architecture logicielle — Dossier de conception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206240"/>
            <a:ext cx="2133295" cy="2286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2786E"/>
                </a:solidFill>
                <a:latin typeface="Inter"/>
              </a:defRPr>
            </a:pPr>
            <a:r>
              <a:t>Master 1 Architecte d'Application — CESI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Romain  ·  Maëlle  ·  Loris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 /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1424"/>
            <a:ext cx="55416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Sommaire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49047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Organisation du groupe</a:t>
            </a:r>
          </a:p>
        </p:txBody>
      </p:sp>
      <p:pic>
        <p:nvPicPr>
          <p:cNvPr id="7" name="Picture 6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256032" cy="2560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14400" y="226771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86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Contexte &amp; objectifs du projet</a:t>
            </a:r>
          </a:p>
        </p:txBody>
      </p:sp>
      <p:pic>
        <p:nvPicPr>
          <p:cNvPr id="11" name="Picture 1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286000"/>
            <a:ext cx="256032" cy="256032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914400" y="304495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63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Analyse du SI existant</a:t>
            </a:r>
          </a:p>
        </p:txBody>
      </p:sp>
      <p:pic>
        <p:nvPicPr>
          <p:cNvPr id="15" name="Picture 14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063240"/>
            <a:ext cx="256032" cy="2560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Points faibles identifiés</a:t>
            </a:r>
          </a:p>
        </p:txBody>
      </p:sp>
      <p:pic>
        <p:nvPicPr>
          <p:cNvPr id="19" name="Picture 18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3840480"/>
            <a:ext cx="256032" cy="2560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14400" y="459943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617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Exigences non fonctionnelles</a:t>
            </a:r>
          </a:p>
        </p:txBody>
      </p:sp>
      <p:pic>
        <p:nvPicPr>
          <p:cNvPr id="23" name="Picture 22" descr="ge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4617720"/>
            <a:ext cx="256032" cy="2560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14400" y="537667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949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Axes d'amélioration</a:t>
            </a:r>
          </a:p>
        </p:txBody>
      </p:sp>
      <p:pic>
        <p:nvPicPr>
          <p:cNvPr id="27" name="Picture 26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5394960"/>
            <a:ext cx="256032" cy="2560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6400800" y="149047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508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Comparaison des styles architecturaux</a:t>
            </a:r>
          </a:p>
        </p:txBody>
      </p:sp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64240" y="1508760"/>
            <a:ext cx="256032" cy="256032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400800" y="226771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2860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86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Styles retenus &amp; justification</a:t>
            </a:r>
          </a:p>
        </p:txBody>
      </p:sp>
      <p:pic>
        <p:nvPicPr>
          <p:cNvPr id="35" name="Picture 34" descr="mess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64240" y="2286000"/>
            <a:ext cx="256032" cy="256032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400800" y="304495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0632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063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Choix technologiques</a:t>
            </a:r>
          </a:p>
        </p:txBody>
      </p:sp>
      <p:pic>
        <p:nvPicPr>
          <p:cNvPr id="39" name="Picture 38" descr="c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64240" y="3063240"/>
            <a:ext cx="256032" cy="256032"/>
          </a:xfrm>
          <a:prstGeom prst="rect">
            <a:avLst/>
          </a:prstGeom>
        </p:spPr>
      </p:pic>
      <p:sp>
        <p:nvSpPr>
          <p:cNvPr id="40" name="Oval 39"/>
          <p:cNvSpPr/>
          <p:nvPr/>
        </p:nvSpPr>
        <p:spPr>
          <a:xfrm>
            <a:off x="6400800" y="382219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38404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Architecture logique cible</a:t>
            </a:r>
          </a:p>
        </p:txBody>
      </p:sp>
      <p:pic>
        <p:nvPicPr>
          <p:cNvPr id="43" name="Picture 42" descr="clou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64240" y="3840480"/>
            <a:ext cx="25603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6400800" y="459943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6177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617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Stratégie de migration</a:t>
            </a:r>
          </a:p>
        </p:txBody>
      </p:sp>
      <p:pic>
        <p:nvPicPr>
          <p:cNvPr id="47" name="Picture 46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0" y="4617720"/>
            <a:ext cx="256032" cy="256032"/>
          </a:xfrm>
          <a:prstGeom prst="rect">
            <a:avLst/>
          </a:prstGeom>
        </p:spPr>
      </p:pic>
      <p:sp>
        <p:nvSpPr>
          <p:cNvPr id="48" name="Oval 47"/>
          <p:cNvSpPr/>
          <p:nvPr/>
        </p:nvSpPr>
        <p:spPr>
          <a:xfrm>
            <a:off x="6400800" y="537667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53949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Conclusion &amp; perspectives</a:t>
            </a:r>
          </a:p>
        </p:txBody>
      </p:sp>
      <p:pic>
        <p:nvPicPr>
          <p:cNvPr id="51" name="Picture 5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5394960"/>
            <a:ext cx="256032" cy="25603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 / 22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21424"/>
            <a:ext cx="110833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>
            <a:hlinkClick r:id="rId14" action="ppaction://hlinksldjump"/>
          </p:cNvPr>
          <p:cNvSpPr/>
          <p:nvPr/>
        </p:nvSpPr>
        <p:spPr>
          <a:xfrm>
            <a:off x="914400" y="14630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>
            <a:hlinkClick r:id="rId15" action="ppaction://hlinksldjump"/>
          </p:cNvPr>
          <p:cNvSpPr/>
          <p:nvPr/>
        </p:nvSpPr>
        <p:spPr>
          <a:xfrm>
            <a:off x="914400" y="224028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>
            <a:hlinkClick r:id="rId16" action="ppaction://hlinksldjump"/>
          </p:cNvPr>
          <p:cNvSpPr/>
          <p:nvPr/>
        </p:nvSpPr>
        <p:spPr>
          <a:xfrm>
            <a:off x="914400" y="301752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r:id="rId17" action="ppaction://hlinksldjump"/>
          </p:cNvPr>
          <p:cNvSpPr/>
          <p:nvPr/>
        </p:nvSpPr>
        <p:spPr>
          <a:xfrm>
            <a:off x="914400" y="379476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>
            <a:hlinkClick r:id="rId18" action="ppaction://hlinksldjump"/>
          </p:cNvPr>
          <p:cNvSpPr/>
          <p:nvPr/>
        </p:nvSpPr>
        <p:spPr>
          <a:xfrm>
            <a:off x="914400" y="457200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>
            <a:hlinkClick r:id="rId19" action="ppaction://hlinksldjump"/>
          </p:cNvPr>
          <p:cNvSpPr/>
          <p:nvPr/>
        </p:nvSpPr>
        <p:spPr>
          <a:xfrm>
            <a:off x="914400" y="53492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>
            <a:hlinkClick r:id="rId20" action="ppaction://hlinksldjump"/>
          </p:cNvPr>
          <p:cNvSpPr/>
          <p:nvPr/>
        </p:nvSpPr>
        <p:spPr>
          <a:xfrm>
            <a:off x="6400800" y="14630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>
            <a:hlinkClick r:id="rId21" action="ppaction://hlinksldjump"/>
          </p:cNvPr>
          <p:cNvSpPr/>
          <p:nvPr/>
        </p:nvSpPr>
        <p:spPr>
          <a:xfrm>
            <a:off x="6400800" y="224028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>
            <a:hlinkClick r:id="rId22" action="ppaction://hlinksldjump"/>
          </p:cNvPr>
          <p:cNvSpPr/>
          <p:nvPr/>
        </p:nvSpPr>
        <p:spPr>
          <a:xfrm>
            <a:off x="6400800" y="301752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>
            <a:hlinkClick r:id="rId23" action="ppaction://hlinksldjump"/>
          </p:cNvPr>
          <p:cNvSpPr/>
          <p:nvPr/>
        </p:nvSpPr>
        <p:spPr>
          <a:xfrm>
            <a:off x="6400800" y="379476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>
            <a:hlinkClick r:id="rId24" action="ppaction://hlinksldjump"/>
          </p:cNvPr>
          <p:cNvSpPr/>
          <p:nvPr/>
        </p:nvSpPr>
        <p:spPr>
          <a:xfrm>
            <a:off x="6400800" y="457200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>
            <a:hlinkClick r:id="rId25" action="ppaction://hlinksldjump"/>
          </p:cNvPr>
          <p:cNvSpPr/>
          <p:nvPr/>
        </p:nvSpPr>
        <p:spPr>
          <a:xfrm>
            <a:off x="6400800" y="53492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1. Organisation du groupe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515600" cy="45720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93441A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161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3441A"/>
                </a:solidFill>
                <a:latin typeface="Inter"/>
              </a:defRPr>
            </a:pPr>
            <a:r>
              <a:t>Equipe initiale : 4 membres — Steven (Analyste) a quitté le groupe en cours de projet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320040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Romain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Chef de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Coordination, planification</a:t>
            </a:r>
          </a:p>
        </p:txBody>
      </p:sp>
      <p:pic>
        <p:nvPicPr>
          <p:cNvPr id="11" name="Picture 10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554480"/>
            <a:ext cx="457200" cy="457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89120" y="192024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320040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Maëlle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Lead Back-end &amp; BDD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Architecture back-end, BDD</a:t>
            </a:r>
          </a:p>
        </p:txBody>
      </p:sp>
      <p:pic>
        <p:nvPicPr>
          <p:cNvPr id="17" name="Picture 16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554480"/>
            <a:ext cx="457200" cy="457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46720" y="192024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920240"/>
            <a:ext cx="320040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Loris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Lead Front-end &amp; reste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Front-end, intégrations</a:t>
            </a:r>
          </a:p>
        </p:txBody>
      </p:sp>
      <p:pic>
        <p:nvPicPr>
          <p:cNvPr id="23" name="Picture 22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155448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152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3441A"/>
                </a:solidFill>
                <a:latin typeface="Inter"/>
              </a:defRPr>
            </a:pPr>
            <a:r>
              <a:t>Points forts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4069080"/>
            <a:ext cx="146304" cy="146304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Absorption de la charge (-25 %) sans retard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" y="4416552"/>
            <a:ext cx="146304" cy="146304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3708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Cohérence architecturale (traçabilité PF &gt; ENF &gt; AXE)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" y="4764024"/>
            <a:ext cx="146304" cy="146304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7183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Revue croisée systématique de chaque livrable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67332"/>
                </a:solidFill>
                <a:latin typeface="Inter"/>
              </a:defRPr>
            </a:pPr>
            <a:r>
              <a:t>Axes d'amélioration du groupe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4069080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Anticiper les risques de départ d'un membre (bus factor &gt;= 2)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0" y="4453128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Documenter les décisions d'architecture plus tôt (ADR dès le cadrage)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0" y="4837176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7914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Renforcer les compétences DevOps dans l'équipe (CI/CD, conteneurisation)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0" y="5221224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0" y="51755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Formaliser les cérémonies de revue pour pérenniser (processus écrit)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3 / 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821424"/>
            <a:ext cx="166250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2. Contexte &amp;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BricoLoc — Location d'outils de bricolage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48463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Stack obsolète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874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Application en production depuis 2013</a:t>
            </a:r>
            <a:br/>
            <a:r>
              <a:t>Perte de clients depuis 2020 (bugs, stocks)</a:t>
            </a:r>
          </a:p>
        </p:txBody>
      </p:sp>
      <p:pic>
        <p:nvPicPr>
          <p:cNvPr id="9" name="Picture 8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292608" cy="2926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2880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48463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10 entrepôts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017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Toulouse (siège) + 9 régionaux</a:t>
            </a:r>
            <a:br/>
            <a:r>
              <a:t>Equipe DSI : 5 développeurs internes</a:t>
            </a:r>
          </a:p>
        </p:txBody>
      </p:sp>
      <p:pic>
        <p:nvPicPr>
          <p:cNvPr id="14" name="Picture 13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3200400"/>
            <a:ext cx="292608" cy="29260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1520" y="4023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484632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Expansion européenne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Bruxelles, Lausanne, Francfort</a:t>
            </a:r>
            <a:br/>
            <a:r>
              <a:t>Nouveaux segments : P2P, B2B grands comptes</a:t>
            </a:r>
          </a:p>
        </p:txBody>
      </p:sp>
      <p:pic>
        <p:nvPicPr>
          <p:cNvPr id="19" name="Picture 18" descr="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4343400"/>
            <a:ext cx="292608" cy="29260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31520" y="5166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66360"/>
            <a:ext cx="48463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Marque blanche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Partenaires hypermarchés</a:t>
            </a:r>
            <a:br/>
            <a:r>
              <a:t>Service SaaS multi-tenant</a:t>
            </a:r>
          </a:p>
        </p:txBody>
      </p:sp>
      <p:pic>
        <p:nvPicPr>
          <p:cNvPr id="24" name="Picture 23" descr="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5486400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3441A"/>
                </a:solidFill>
                <a:latin typeface="Inter"/>
              </a:defRPr>
            </a:pPr>
            <a:r>
              <a:t>Objectifs du projet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272" y="2167128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65392" y="1847088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18653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18013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Analyser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18013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Analyser le SI existant et ses points faibles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48272" y="2926080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65392" y="2606040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6243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Exiger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560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Définir les exigences non fonctionnelles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48272" y="3685032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65392" y="3364992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3383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3192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Comparer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3192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Comparer les styles architecturaux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48272" y="4443983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65392" y="4123943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14223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407822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Choisir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078223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Justifier les technologies retenues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48272" y="5202936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65392" y="4882896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49011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48371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Concevoir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483717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Définir l'architecture logique cible</a:t>
            </a:r>
          </a:p>
        </p:txBody>
      </p:sp>
      <p:sp>
        <p:nvSpPr>
          <p:cNvPr id="51" name="Oval 50"/>
          <p:cNvSpPr/>
          <p:nvPr/>
        </p:nvSpPr>
        <p:spPr>
          <a:xfrm>
            <a:off x="6565392" y="5641848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65392" y="56601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55961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Migrer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55961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Planifier la migration progressive (Strangler Fig)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4 /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821424"/>
            <a:ext cx="221667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Démarche de conception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457200" y="1371600"/>
            <a:ext cx="1508760" cy="128016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Analyse de</a:t>
            </a:r>
            <a:br/>
            <a:r>
              <a:t>l'existant</a:t>
            </a:r>
          </a:p>
        </p:txBody>
      </p:sp>
      <p:sp>
        <p:nvSpPr>
          <p:cNvPr id="7" name="Chevron 6"/>
          <p:cNvSpPr/>
          <p:nvPr/>
        </p:nvSpPr>
        <p:spPr>
          <a:xfrm>
            <a:off x="2011680" y="1371600"/>
            <a:ext cx="1508760" cy="128016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Exigences non</a:t>
            </a:r>
            <a:br/>
            <a:r>
              <a:t>fonctionnelles</a:t>
            </a:r>
          </a:p>
        </p:txBody>
      </p:sp>
      <p:sp>
        <p:nvSpPr>
          <p:cNvPr id="10" name="Chevron 9"/>
          <p:cNvSpPr/>
          <p:nvPr/>
        </p:nvSpPr>
        <p:spPr>
          <a:xfrm>
            <a:off x="3566160" y="1371600"/>
            <a:ext cx="1508760" cy="1280160"/>
          </a:xfrm>
          <a:prstGeom prst="chevron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E2822"/>
                </a:solidFill>
                <a:latin typeface="Inter"/>
              </a:defRPr>
            </a:pPr>
            <a:r>
              <a:t>Points faibles</a:t>
            </a:r>
            <a:br/>
            <a:r>
              <a:t>&amp; axes</a:t>
            </a:r>
          </a:p>
        </p:txBody>
      </p:sp>
      <p:sp>
        <p:nvSpPr>
          <p:cNvPr id="13" name="Chevron 12"/>
          <p:cNvSpPr/>
          <p:nvPr/>
        </p:nvSpPr>
        <p:spPr>
          <a:xfrm>
            <a:off x="5120640" y="1371600"/>
            <a:ext cx="1508760" cy="1280160"/>
          </a:xfrm>
          <a:prstGeom prst="chevron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E2822"/>
                </a:solidFill>
                <a:latin typeface="Inter"/>
              </a:defRPr>
            </a:pPr>
            <a:r>
              <a:t>Comparaison</a:t>
            </a:r>
            <a:br/>
            <a:r>
              <a:t>des styles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675120" y="1371600"/>
            <a:ext cx="1508760" cy="128016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Matrice choix</a:t>
            </a:r>
            <a:br/>
            <a:r>
              <a:t>technologique</a:t>
            </a:r>
          </a:p>
        </p:txBody>
      </p:sp>
      <p:sp>
        <p:nvSpPr>
          <p:cNvPr id="19" name="Chevron 18"/>
          <p:cNvSpPr/>
          <p:nvPr/>
        </p:nvSpPr>
        <p:spPr>
          <a:xfrm>
            <a:off x="8229600" y="1371600"/>
            <a:ext cx="1508760" cy="128016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Styles retenus</a:t>
            </a:r>
            <a:br/>
            <a:r>
              <a:t>&amp; justification</a:t>
            </a:r>
          </a:p>
        </p:txBody>
      </p:sp>
      <p:sp>
        <p:nvSpPr>
          <p:cNvPr id="22" name="Chevron 21"/>
          <p:cNvSpPr/>
          <p:nvPr/>
        </p:nvSpPr>
        <p:spPr>
          <a:xfrm>
            <a:off x="9784080" y="1371600"/>
            <a:ext cx="1508760" cy="1280160"/>
          </a:xfrm>
          <a:prstGeom prst="chevron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E2822"/>
                </a:solidFill>
                <a:latin typeface="Inter"/>
              </a:defRPr>
            </a:pPr>
            <a:r>
              <a:t>Architecture</a:t>
            </a:r>
            <a:br/>
            <a:r>
              <a:t>logique cible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017520"/>
            <a:ext cx="11247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08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Cohérence de la démarche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566160"/>
            <a:ext cx="1371600" cy="27432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3441A"/>
                </a:solidFill>
                <a:latin typeface="Inter"/>
              </a:defRPr>
            </a:pPr>
            <a:r>
              <a:t>Principes directeurs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4160520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148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2822"/>
                </a:solidFill>
                <a:latin typeface="Inter"/>
              </a:defRPr>
            </a:pPr>
            <a:r>
              <a:t>Comprendre avant de concevoir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On ne conçoit pas une architecture</a:t>
            </a:r>
            <a:br/>
            <a:r>
              <a:t>sans comprendre l'existant à remplacer.</a:t>
            </a:r>
          </a:p>
        </p:txBody>
      </p:sp>
      <p:sp>
        <p:nvSpPr>
          <p:cNvPr id="32" name="Oval 31"/>
          <p:cNvSpPr/>
          <p:nvPr/>
        </p:nvSpPr>
        <p:spPr>
          <a:xfrm>
            <a:off x="822960" y="4937760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8920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2822"/>
                </a:solidFill>
                <a:latin typeface="Inter"/>
              </a:defRPr>
            </a:pPr>
            <a:r>
              <a:t>Les ENF comme fil directeur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166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Tout style ou technologie qui ne répond</a:t>
            </a:r>
            <a:br/>
            <a:r>
              <a:t>pas aux métriques cibles est écarté.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" y="5715000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669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2822"/>
                </a:solidFill>
                <a:latin typeface="Inter"/>
              </a:defRPr>
            </a:pPr>
            <a:r>
              <a:t>Justifier chaque décision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943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La matrice de choix trace chaque décision</a:t>
            </a:r>
            <a:br/>
            <a:r>
              <a:t>de manière auditée et reproductible.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749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67332"/>
                </a:solidFill>
                <a:latin typeface="Inter"/>
              </a:defRPr>
            </a:pPr>
            <a:r>
              <a:t>Traçabilité</a:t>
            </a:r>
          </a:p>
        </p:txBody>
      </p:sp>
      <p:sp>
        <p:nvSpPr>
          <p:cNvPr id="39" name="Oval 38"/>
          <p:cNvSpPr/>
          <p:nvPr/>
        </p:nvSpPr>
        <p:spPr>
          <a:xfrm>
            <a:off x="6492240" y="416052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0" y="4114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étape alimente la suivante, aucun choix n'est fait avant d'avoir établi les contraintes.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480060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7548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Les points faibles techniques sont traduits en décisions stratégiques pour le métier.</a:t>
            </a:r>
          </a:p>
        </p:txBody>
      </p:sp>
      <p:sp>
        <p:nvSpPr>
          <p:cNvPr id="43" name="Oval 42"/>
          <p:cNvSpPr/>
          <p:nvPr/>
        </p:nvSpPr>
        <p:spPr>
          <a:xfrm>
            <a:off x="6492240" y="544068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53949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L'architecture logique est le contrat de construction : détaillée pour le dev, lisible pour le décideur.</a:t>
            </a:r>
          </a:p>
        </p:txBody>
      </p:sp>
      <p:sp>
        <p:nvSpPr>
          <p:cNvPr id="45" name="Oval 44"/>
          <p:cNvSpPr/>
          <p:nvPr/>
        </p:nvSpPr>
        <p:spPr>
          <a:xfrm>
            <a:off x="6492240" y="608076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0" y="60350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La démarche s'appuie sur les activités classiques d'architecture logicielle.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5 / 22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821424"/>
            <a:ext cx="277083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4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Analyse de l'existant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566160"/>
            <a:ext cx="2133295" cy="27432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EE6D8"/>
                </a:solidFill>
                <a:latin typeface="Inter"/>
              </a:defRPr>
            </a:pPr>
            <a:r>
              <a:t>Comprendre avant de concevoir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6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21424"/>
            <a:ext cx="332500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3. Schéma du SI existant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926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9260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441A"/>
                </a:solidFill>
                <a:latin typeface="Inter"/>
              </a:defRPr>
            </a:pPr>
            <a:r>
              <a:t>Front-end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Tomcat 8.5 / Spring 5</a:t>
            </a:r>
            <a:br/>
            <a:r>
              <a:t>Apache (reverse proxy)</a:t>
            </a:r>
            <a:br/>
            <a:r>
              <a:t>Logique métier migrée ici</a:t>
            </a:r>
          </a:p>
        </p:txBody>
      </p:sp>
      <p:pic>
        <p:nvPicPr>
          <p:cNvPr id="8" name="Picture 7" descr="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234440"/>
            <a:ext cx="274320" cy="274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0" y="1188720"/>
            <a:ext cx="2926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29260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67332"/>
                </a:solidFill>
                <a:latin typeface="Inter"/>
              </a:defRPr>
            </a:pPr>
            <a:r>
              <a:t>Back-end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WebLogic 12c R1 / Java EE 6</a:t>
            </a:r>
            <a:br/>
            <a:r>
              <a:t>Oracle Linux 6.5 (EOL)</a:t>
            </a:r>
            <a:br/>
            <a:r>
              <a:t>EJB / JPA legacy</a:t>
            </a:r>
          </a:p>
        </p:txBody>
      </p:sp>
      <p:pic>
        <p:nvPicPr>
          <p:cNvPr id="13" name="Picture 12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234440"/>
            <a:ext cx="274320" cy="274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0" y="3383280"/>
            <a:ext cx="3657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3383280"/>
            <a:ext cx="365760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Oracle 11g R2 (Cluster 2 noeuds)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840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bricolocDB · autorisationDB · prixDB</a:t>
            </a:r>
            <a:br/>
            <a:r>
              <a:t>Tables &gt; 150 colonnes, PL/SQL métier</a:t>
            </a:r>
            <a:br/>
            <a:r>
              <a:t>Coût licences élevé</a:t>
            </a:r>
          </a:p>
        </p:txBody>
      </p:sp>
      <p:pic>
        <p:nvPicPr>
          <p:cNvPr id="18" name="Picture 17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429000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686800" y="118872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0" y="1188720"/>
            <a:ext cx="320040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1280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441A"/>
                </a:solidFill>
                <a:latin typeface="Inter"/>
              </a:defRPr>
            </a:pPr>
            <a:r>
              <a:t>Stocks &amp; SAP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SAP B1 9.X &gt; CSV quotidien</a:t>
            </a:r>
            <a:br/>
            <a:r>
              <a:t>Batch Java &gt; PL/SQL</a:t>
            </a:r>
            <a:br/>
            <a:r>
              <a:t>WCF VB.NET (code perdu !)</a:t>
            </a:r>
          </a:p>
        </p:txBody>
      </p:sp>
      <p:pic>
        <p:nvPicPr>
          <p:cNvPr id="23" name="Picture 22" descr="st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234440"/>
            <a:ext cx="274320" cy="2743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686800" y="338328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383280"/>
            <a:ext cx="320040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67332"/>
                </a:solidFill>
                <a:latin typeface="Inter"/>
              </a:defRPr>
            </a:pPr>
            <a: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8404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FTP (pas de Git !) · VM fantôme</a:t>
            </a:r>
            <a:br/>
            <a:r>
              <a:t>Active Directory · Exchange</a:t>
            </a:r>
            <a:br/>
            <a:r>
              <a:t>Partages fichiers + CSV</a:t>
            </a:r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1440" y="3429000"/>
            <a:ext cx="274320" cy="274320"/>
          </a:xfrm>
          <a:prstGeom prst="rect">
            <a:avLst/>
          </a:prstGeom>
        </p:spPr>
      </p:pic>
      <p:sp>
        <p:nvSpPr>
          <p:cNvPr id="29" name="Right Arrow 28"/>
          <p:cNvSpPr/>
          <p:nvPr/>
        </p:nvSpPr>
        <p:spPr>
          <a:xfrm>
            <a:off x="3383280" y="1691640"/>
            <a:ext cx="1097280" cy="274320"/>
          </a:xfrm>
          <a:prstGeom prst="rightArrow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1417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67332"/>
                </a:solidFill>
                <a:latin typeface="Inter"/>
              </a:defRPr>
            </a:pPr>
            <a:r>
              <a:t>SOAP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645920" y="2606040"/>
            <a:ext cx="320040" cy="731520"/>
          </a:xfrm>
          <a:prstGeom prst="down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2743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3441A"/>
                </a:solidFill>
                <a:latin typeface="Inter"/>
              </a:defRPr>
            </a:pPr>
            <a:r>
              <a:t>JDBC direct</a:t>
            </a:r>
            <a:br/>
            <a:r>
              <a:t>(violation archi)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760720" y="2606040"/>
            <a:ext cx="320040" cy="731520"/>
          </a:xfrm>
          <a:prstGeom prst="downArrow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67332"/>
                </a:solidFill>
                <a:latin typeface="Inter"/>
              </a:defRPr>
            </a:pPr>
            <a:r>
              <a:t>JDBC / JPA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589520" y="1828800"/>
            <a:ext cx="1005840" cy="274320"/>
          </a:xfrm>
          <a:prstGeom prst="right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3441A"/>
                </a:solidFill>
                <a:latin typeface="Inter"/>
              </a:defRPr>
            </a:pPr>
            <a:r>
              <a:t>&lt; Batch CSV &gt;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9875520" y="2606040"/>
            <a:ext cx="320040" cy="731520"/>
          </a:xfrm>
          <a:prstGeom prst="down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3441A"/>
                </a:solidFill>
                <a:latin typeface="Inter"/>
              </a:defRPr>
            </a:pPr>
            <a:r>
              <a:t>PL/SQL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29200"/>
            <a:ext cx="11247120" cy="155448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93441A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074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441A"/>
                </a:solidFill>
                <a:latin typeface="Inter"/>
              </a:defRPr>
            </a:pPr>
            <a:r>
              <a:t>9 anomalies architecturales majeures identifiées</a:t>
            </a:r>
          </a:p>
        </p:txBody>
      </p:sp>
      <p:sp>
        <p:nvSpPr>
          <p:cNvPr id="41" name="Oval 40"/>
          <p:cNvSpPr/>
          <p:nvPr/>
        </p:nvSpPr>
        <p:spPr>
          <a:xfrm>
            <a:off x="685800" y="5486400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Accès JDBC direct du front vers la BDD (contourne le back-end)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" y="5833872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7881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Logique métier éparpillée : front + back + BDD (PL/SQL)</a:t>
            </a:r>
          </a:p>
        </p:txBody>
      </p:sp>
      <p:sp>
        <p:nvSpPr>
          <p:cNvPr id="45" name="Oval 44"/>
          <p:cNvSpPr/>
          <p:nvPr/>
        </p:nvSpPr>
        <p:spPr>
          <a:xfrm>
            <a:off x="685800" y="6181344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61356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WCF VB.NET sans code source — SPOF sur la gestion stocks</a:t>
            </a:r>
          </a:p>
        </p:txBody>
      </p:sp>
      <p:sp>
        <p:nvSpPr>
          <p:cNvPr id="47" name="Oval 46"/>
          <p:cNvSpPr/>
          <p:nvPr/>
        </p:nvSpPr>
        <p:spPr>
          <a:xfrm>
            <a:off x="5989320" y="5486400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5440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Batch CSV quotidien SAP &gt; 24h de latence sur les stocks</a:t>
            </a:r>
          </a:p>
        </p:txBody>
      </p:sp>
      <p:sp>
        <p:nvSpPr>
          <p:cNvPr id="49" name="Oval 48"/>
          <p:cNvSpPr/>
          <p:nvPr/>
        </p:nvSpPr>
        <p:spPr>
          <a:xfrm>
            <a:off x="5989320" y="5833872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57881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FTP sans Git — aucun contrôle de version</a:t>
            </a:r>
          </a:p>
        </p:txBody>
      </p:sp>
      <p:sp>
        <p:nvSpPr>
          <p:cNvPr id="51" name="Oval 50"/>
          <p:cNvSpPr/>
          <p:nvPr/>
        </p:nvSpPr>
        <p:spPr>
          <a:xfrm>
            <a:off x="5989320" y="6181344"/>
            <a:ext cx="128016" cy="128016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61356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Oracle 11g R2 surdimensionné et coûteux</a:t>
            </a: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7 / 22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821424"/>
            <a:ext cx="387917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4. Points faibles identifiés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786E"/>
                </a:solidFill>
                <a:latin typeface="Inter"/>
              </a:defRPr>
            </a:pPr>
            <a:r>
              <a:t>Criticité décroissante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1463040"/>
            <a:ext cx="548640" cy="164592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0" y="14356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691640"/>
            <a:ext cx="548640" cy="164592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16642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1920240"/>
            <a:ext cx="548640" cy="164592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0" y="1892807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Modéré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80160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80160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5331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3533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Monolithe obsolète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13533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1847088"/>
            <a:ext cx="107442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1847088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19202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Logique métier éparpillée (3 couches)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1920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2414016"/>
            <a:ext cx="102412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54480" y="2414016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24871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4871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Stocks incohérents — perte de clients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4871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57400" y="2980944"/>
            <a:ext cx="97383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57400" y="2980944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305409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0540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WCF sans code source — SPOF absolu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05409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547872"/>
            <a:ext cx="9235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0" y="3547872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97480" y="362102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2102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Pas de gestion de configuration (FTP)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362102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63240" y="4114800"/>
            <a:ext cx="8732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63240" y="4114800"/>
            <a:ext cx="54864" cy="5029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41879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67332"/>
                </a:solidFill>
                <a:latin typeface="Inter"/>
              </a:defRPr>
            </a:pPr>
            <a:r>
              <a:t>PF-06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69080" y="41879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BDD Oracle surdimensionnée &amp; coûteuse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41879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B67332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566160" y="4681728"/>
            <a:ext cx="8229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66160" y="4681728"/>
            <a:ext cx="54864" cy="5029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47548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67332"/>
                </a:solidFill>
                <a:latin typeface="Inter"/>
              </a:defRPr>
            </a:pPr>
            <a:r>
              <a:t>PF-07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Sécurité insuffisante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47548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B67332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69080" y="5248656"/>
            <a:ext cx="7726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69080" y="5248656"/>
            <a:ext cx="54864" cy="5029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40" y="532180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67332"/>
                </a:solidFill>
                <a:latin typeface="Inter"/>
              </a:defRPr>
            </a:pPr>
            <a:r>
              <a:t>PF-08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74920" y="53218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Dette humaine &amp; organisationnelle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53218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B67332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0" y="5815584"/>
            <a:ext cx="72237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0" y="5815584"/>
            <a:ext cx="54864" cy="5029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588873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EE6D8"/>
                </a:solidFill>
                <a:latin typeface="Inter"/>
              </a:defRPr>
            </a:pPr>
            <a:r>
              <a:t>PF-09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77840" y="588873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Marque blanche non compétitive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588873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EEE6D8"/>
                </a:solidFill>
                <a:latin typeface="Inter"/>
              </a:defRPr>
            </a:pPr>
            <a:r>
              <a:t>Modéré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8 / 22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821424"/>
            <a:ext cx="443334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5. Exigences Non Fonctionnelles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161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2786E"/>
                </a:solidFill>
                <a:latin typeface="Inter"/>
              </a:defRPr>
            </a:pPr>
            <a: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2161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2786E"/>
                </a:solidFill>
                <a:latin typeface="Inter"/>
              </a:defRPr>
            </a:pPr>
            <a:r>
              <a:t>Exigence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2161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2786E"/>
                </a:solidFill>
                <a:latin typeface="Inter"/>
              </a:defRPr>
            </a:pPr>
            <a:r>
              <a:t>Critères clés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2161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82786E"/>
                </a:solidFill>
                <a:latin typeface="Inter"/>
              </a:defRPr>
            </a:pPr>
            <a:r>
              <a:t>Priorité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3113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Catalogue &lt; 2s, APIs &lt; 500ms, pics x3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89280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0" y="189280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82549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28600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377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Disponibilité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SLA &gt;= 99,5 %, RTO &lt; 4h, RPO &lt; 1h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248716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248716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288036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41985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288036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2971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Sécurité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2971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IAM centralisé, RGPD, PCI-DSS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308152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26880" y="308152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" y="401421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347472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3566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Maintenabilité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Tests &gt;= 70 %, zéro PL/SQL, OpenAPI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367588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26880" y="367588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460857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4069080"/>
            <a:ext cx="45720" cy="54864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160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67332"/>
                </a:solidFill>
                <a:latin typeface="Inter"/>
              </a:defRPr>
            </a:pPr>
            <a:r>
              <a:t>ENF-03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1168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Scalabilité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4160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Scale-out, expansion EU, B2C/B2B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427024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26880" y="4270248"/>
            <a:ext cx="1316736" cy="128016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466344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1520" y="520293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520" y="4663440"/>
            <a:ext cx="45720" cy="54864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7548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67332"/>
                </a:solidFill>
                <a:latin typeface="Inter"/>
              </a:defRPr>
            </a:pPr>
            <a:r>
              <a:t>ENF-06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1680" y="4754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Interopérabilité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REST SAP, Stripe v3, Power BI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486460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326880" y="4864608"/>
            <a:ext cx="1316736" cy="128016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1520" y="525780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31520" y="579729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1520" y="5257800"/>
            <a:ext cx="45720" cy="54864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349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EE6D8"/>
                </a:solidFill>
                <a:latin typeface="Inter"/>
              </a:defRPr>
            </a:pPr>
            <a:r>
              <a:t>ENF-07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11680" y="5349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Portabilité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Cloud-ready, Docker, CI/CD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545896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326880" y="5458968"/>
            <a:ext cx="987552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1520" y="639165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" y="5852160"/>
            <a:ext cx="45720" cy="54864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943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EE6D8"/>
                </a:solidFill>
                <a:latin typeface="Inter"/>
              </a:defRPr>
            </a:pPr>
            <a:r>
              <a:t>ENF-08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11680" y="5943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Observabilité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Logs centralisés, alertes auto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605332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326880" y="6053328"/>
            <a:ext cx="987552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9 / 22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821424"/>
            <a:ext cx="498751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6. Axes d'amélioration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63870" y="3108960"/>
            <a:ext cx="1463040" cy="14630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63870" y="3611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Inter"/>
              </a:defRPr>
            </a:pPr>
            <a:r>
              <a:t>BricoLoc</a:t>
            </a:r>
            <a:br/>
            <a:r>
              <a:t>2.0</a:t>
            </a:r>
          </a:p>
        </p:txBody>
      </p:sp>
      <p:sp>
        <p:nvSpPr>
          <p:cNvPr id="6" name="Oval 5"/>
          <p:cNvSpPr/>
          <p:nvPr/>
        </p:nvSpPr>
        <p:spPr>
          <a:xfrm>
            <a:off x="3580790" y="1325880"/>
            <a:ext cx="5029200" cy="5029200"/>
          </a:xfrm>
          <a:prstGeom prst="ellipse">
            <a:avLst/>
          </a:prstGeom>
          <a:noFill/>
          <a:ln w="25400">
            <a:solidFill>
              <a:srgbClr val="EE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52390" y="914400"/>
            <a:ext cx="2286000" cy="1280160"/>
          </a:xfrm>
          <a:prstGeom prst="roundRect">
            <a:avLst/>
          </a:prstGeom>
          <a:solidFill>
            <a:srgbClr val="93441A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35370" y="987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35370" y="1005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3441A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3830" y="1353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Refonte architecture</a:t>
            </a:r>
            <a:br/>
            <a:r>
              <a:t>modulaire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3830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PF-01, PF-02, PF-03</a:t>
            </a:r>
          </a:p>
        </p:txBody>
      </p:sp>
      <p:pic>
        <p:nvPicPr>
          <p:cNvPr id="12" name="Picture 11" descr="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918" y="969264"/>
            <a:ext cx="274320" cy="274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32124" y="2057400"/>
            <a:ext cx="2286000" cy="1280160"/>
          </a:xfrm>
          <a:prstGeom prst="roundRect">
            <a:avLst/>
          </a:prstGeom>
          <a:solidFill>
            <a:srgbClr val="B67332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15104" y="2130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5104" y="2148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67332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3564" y="2496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Stocks temps réel</a:t>
            </a:r>
            <a:br/>
            <a:r>
              <a:t>(événementiel SAP)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3564" y="2971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PF-03, PF-04</a:t>
            </a:r>
          </a:p>
        </p:txBody>
      </p:sp>
      <p:pic>
        <p:nvPicPr>
          <p:cNvPr id="18" name="Picture 17" descr="st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0652" y="2112264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32124" y="4343400"/>
            <a:ext cx="2286000" cy="1280160"/>
          </a:xfrm>
          <a:prstGeom prst="roundRect">
            <a:avLst/>
          </a:prstGeom>
          <a:solidFill>
            <a:srgbClr val="EEE6D8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5104" y="4416552"/>
            <a:ext cx="320040" cy="320040"/>
          </a:xfrm>
          <a:prstGeom prst="ellipse">
            <a:avLst/>
          </a:prstGeom>
          <a:solidFill>
            <a:srgbClr val="2E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5104" y="4434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3564" y="4782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2822"/>
                </a:solidFill>
                <a:latin typeface="Inter"/>
              </a:defRPr>
            </a:pPr>
            <a:r>
              <a:t>Git + 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3564" y="5257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2822"/>
                </a:solidFill>
                <a:latin typeface="Inter"/>
              </a:defRPr>
            </a:pPr>
            <a:r>
              <a:t>PF-05, PF-08</a:t>
            </a:r>
          </a:p>
        </p:txBody>
      </p:sp>
      <p:pic>
        <p:nvPicPr>
          <p:cNvPr id="24" name="Picture 23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0652" y="4398264"/>
            <a:ext cx="274320" cy="2743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952390" y="5486400"/>
            <a:ext cx="2286000" cy="128016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35370" y="5559552"/>
            <a:ext cx="320040" cy="320040"/>
          </a:xfrm>
          <a:prstGeom prst="ellipse">
            <a:avLst/>
          </a:prstGeom>
          <a:solidFill>
            <a:srgbClr val="2E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35370" y="5577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3830" y="5925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2822"/>
                </a:solidFill>
                <a:latin typeface="Inter"/>
              </a:defRPr>
            </a:pPr>
            <a:r>
              <a:t>Migration cloud &amp;</a:t>
            </a:r>
            <a:br/>
            <a:r>
              <a:t>rationalisation coûts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3830" y="6400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2822"/>
                </a:solidFill>
                <a:latin typeface="Inter"/>
              </a:defRPr>
            </a:pPr>
            <a:r>
              <a:t>PF-01, PF-06</a:t>
            </a:r>
          </a:p>
        </p:txBody>
      </p:sp>
      <p:pic>
        <p:nvPicPr>
          <p:cNvPr id="30" name="Picture 29" descr="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0918" y="5541264"/>
            <a:ext cx="274320" cy="27432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2972655" y="4343400"/>
            <a:ext cx="2286000" cy="1280160"/>
          </a:xfrm>
          <a:prstGeom prst="roundRect">
            <a:avLst/>
          </a:prstGeom>
          <a:solidFill>
            <a:srgbClr val="93441A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55635" y="4416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55635" y="4434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3441A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4095" y="4782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Sécurité &amp;</a:t>
            </a:r>
            <a:br/>
            <a:r>
              <a:t>conformité RGPD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4095" y="5257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PF-07</a:t>
            </a:r>
          </a:p>
        </p:txBody>
      </p:sp>
      <p:pic>
        <p:nvPicPr>
          <p:cNvPr id="36" name="Picture 35" descr="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1183" y="4398264"/>
            <a:ext cx="274320" cy="2743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972655" y="2057400"/>
            <a:ext cx="2286000" cy="1280160"/>
          </a:xfrm>
          <a:prstGeom prst="roundRect">
            <a:avLst/>
          </a:prstGeom>
          <a:solidFill>
            <a:srgbClr val="B67332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5635" y="2130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55635" y="2148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67332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4095" y="2496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Marque blanche</a:t>
            </a:r>
            <a:br/>
            <a:r>
              <a:t>SaaS multi-tenant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4095" y="2971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PF-09</a:t>
            </a:r>
          </a:p>
        </p:txBody>
      </p:sp>
      <p:pic>
        <p:nvPicPr>
          <p:cNvPr id="42" name="Picture 41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1183" y="2112264"/>
            <a:ext cx="274320" cy="27432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10 / 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821424"/>
            <a:ext cx="554167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7. Comparaison des approches possibles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Application modulaire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Adapté à notre équipe de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41732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417320"/>
            <a:ext cx="4322618" cy="41148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447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40/55</a:t>
            </a:r>
          </a:p>
        </p:txBody>
      </p:sp>
      <p:sp>
        <p:nvSpPr>
          <p:cNvPr id="9" name="Oval 8"/>
          <p:cNvSpPr/>
          <p:nvPr/>
        </p:nvSpPr>
        <p:spPr>
          <a:xfrm>
            <a:off x="10515600" y="1463040"/>
            <a:ext cx="320040" cy="32004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151790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Messagerie temps réel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Stocks toujours à jour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2286000"/>
            <a:ext cx="4322618" cy="41148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313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40/55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2331720"/>
            <a:ext cx="320040" cy="32004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238658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Microservices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Trop complexe pour 5 personnes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15468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3154680"/>
            <a:ext cx="4214552" cy="41148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31821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39/55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Bus centralisé (SOA/ESB)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51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Infrastructure surdimensionnée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02336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4023360"/>
            <a:ext cx="3566160" cy="41148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4050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33/55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Architecture actuelle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0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Source des problèmes actuels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489204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4892040"/>
            <a:ext cx="2485505" cy="41148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0" y="49194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23/55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471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AAB3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486400"/>
            <a:ext cx="112471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577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3441A"/>
                </a:solidFill>
                <a:latin typeface="Inter"/>
              </a:defRPr>
            </a:pPr>
            <a:r>
              <a:t>Notre choix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Combiner les deux meilleures approches : une application bien organisée + une messagerie temps réel pour les stocks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11 / 22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0" y="6821424"/>
            <a:ext cx="609584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4" grpId="0" animBg="1"/>
    <p:bldP spid="5" grpId="0" animBg="1"/>
    <p:bldP spid="6" grpId="0" animBg="1"/>
    <p:bldP spid="7" grpId="0" animBg="1"/>
    <p:bldP spid="8" grpId="0" animBg="1"/>
    <p:bldP spid="9" grpId="0" animBg="1"/>
    <p:bldP spid="10" grpId="0" animBg="1"/>
    <p:bldP spid="11" grpId="0" animBg="1"/>
    <p:bldP spid="12" grpId="0" animBg="1"/>
    <p:bldP spid="13" grpId="0" animBg="1"/>
    <p:bldP spid="14" grpId="0" animBg="1"/>
    <p:bldP spid="15" grpId="0" animBg="1"/>
    <p:bldP spid="16" grpId="0" animBg="1"/>
    <p:bldP spid="17" grpId="0" animBg="1"/>
    <p:bldP spid="18" grpId="0" animBg="1"/>
    <p:bldP spid="19" grpId="0" animBg="1"/>
    <p:bldP spid="20" grpId="0" animBg="1"/>
    <p:bldP spid="21" grpId="0" animBg="1"/>
    <p:bldP spid="22" grpId="0" animBg="1"/>
    <p:bldP spid="23" grpId="0" animBg="1"/>
    <p:bldP spid="24" grpId="0" animBg="1"/>
    <p:bldP spid="25" grpId="0" animBg="1"/>
    <p:bldP spid="26" grpId="0" animBg="1"/>
    <p:bldP spid="27" grpId="0" animBg="1"/>
    <p:bldP spid="28" grpId="0" animBg="1"/>
    <p:bldP spid="29" grpId="0" animBg="1"/>
    <p:bldP spid="30" grpId="0" animBg="1"/>
    <p:bldP spid="31" grpId="0" animBg="1"/>
    <p:bldP spid="32" grpId="0" animBg="1"/>
    <p:bldP spid="33" grpId="0" animBg="1"/>
    <p:bldP spid="34" grpId="0" animBg="1"/>
    <p:bldP spid="35" grpId="0" animBg="1"/>
    <p:bldP spid="36" grpId="0" animBg="1"/>
  </p:bldLst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8. Styles retenus &amp; justification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29184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Monolithe modulaire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3840480"/>
            <a:ext cx="457200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97280" y="1920240"/>
            <a:ext cx="2560320" cy="365760"/>
          </a:xfrm>
          <a:prstGeom prst="roundRect">
            <a:avLst/>
          </a:prstGeom>
          <a:solidFill>
            <a:srgbClr val="93441A"/>
          </a:solidFill>
          <a:ln>
            <a:noFill/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Inter"/>
              </a:defRPr>
            </a:pPr>
            <a:r>
              <a:t>Coeur de l'application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5044"/>
                </a:solidFill>
                <a:latin typeface="Inter"/>
              </a:defRPr>
            </a:pPr>
            <a:r>
              <a:t>Une seule application bien organisée</a:t>
            </a:r>
            <a:br/>
            <a:r>
              <a:t>en 9 briques indépendantes.</a:t>
            </a:r>
            <a:br/>
            <a:r>
              <a:t>Réalisable par notre équipe de 5.</a:t>
            </a:r>
            <a:br/>
            <a:r>
              <a:t>Migration progressive possible.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18872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188720"/>
            <a:ext cx="329184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Événementiel ciblé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840480"/>
            <a:ext cx="457200" cy="4572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1920240"/>
            <a:ext cx="2560320" cy="365760"/>
          </a:xfrm>
          <a:prstGeom prst="roundRect">
            <a:avLst/>
          </a:prstGeom>
          <a:solidFill>
            <a:srgbClr val="B67332"/>
          </a:solidFill>
          <a:ln>
            <a:noFill/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9476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Inter"/>
              </a:defRPr>
            </a:pPr>
            <a:r>
              <a:t>Stocks &amp; alertes en temps réel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5044"/>
                </a:solidFill>
                <a:latin typeface="Inter"/>
              </a:defRPr>
            </a:pPr>
            <a:r>
              <a:t>Les informations circulent instantanément</a:t>
            </a:r>
            <a:br/>
            <a:r>
              <a:t>entre les briques via des messages.</a:t>
            </a:r>
            <a:br/>
            <a:r>
              <a:t>Fini le fichier CSV quotidien.</a:t>
            </a:r>
            <a:br/>
            <a:r>
              <a:t>Si une brique tombe, les autres continuent.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18872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188720"/>
            <a:ext cx="329184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APIs REST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840480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412480" y="1920240"/>
            <a:ext cx="2560320" cy="365760"/>
          </a:xfrm>
          <a:prstGeom prst="roundRect">
            <a:avLst/>
          </a:prstGeom>
          <a:solidFill>
            <a:srgbClr val="DAAB3A"/>
          </a:solidFill>
          <a:ln>
            <a:noFill/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9476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Inter"/>
              </a:defRPr>
            </a:pPr>
            <a:r>
              <a:t>Ouverture aux partenaires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4688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5044"/>
                </a:solidFill>
                <a:latin typeface="Inter"/>
              </a:defRPr>
            </a:pPr>
            <a:r>
              <a:t>Des points d'accès documentés</a:t>
            </a:r>
            <a:br/>
            <a:r>
              <a:t>pour les partenaires et outils externes.</a:t>
            </a:r>
            <a:br/>
            <a:r>
              <a:t>Intégration simple et autonome.</a:t>
            </a:r>
            <a:br/>
            <a:r>
              <a:t>Pas de serveur intermédiaire coûteux.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029200"/>
            <a:ext cx="10515600" cy="1097280"/>
          </a:xfrm>
          <a:prstGeom prst="roundRect">
            <a:avLst/>
          </a:prstGeom>
          <a:solidFill>
            <a:srgbClr val="EEE6D8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3441A"/>
                </a:solidFill>
                <a:latin typeface="Inter"/>
              </a:defRPr>
            </a:pPr>
            <a:r>
              <a:t>Approches écartées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440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Microservices (trop complexe pour 5 personnes)  ·  SOA/ESB (infrastructure surdimensionnée)  ·  Architecture actuelle (source des problèmes)  ·  Serverless (inadapté)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12 / 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21424"/>
            <a:ext cx="665001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9. Choix technologiques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3035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Moteur applicatif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Spring Boot 3</a:t>
            </a:r>
          </a:p>
        </p:txBody>
      </p:sp>
      <p:sp>
        <p:nvSpPr>
          <p:cNvPr id="8" name="Oval 7"/>
          <p:cNvSpPr/>
          <p:nvPr/>
        </p:nvSpPr>
        <p:spPr>
          <a:xfrm>
            <a:off x="4663440" y="1417320"/>
            <a:ext cx="640080" cy="64008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83464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63440" y="15361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4,90/5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Déjà maîtrisé par l'équipe</a:t>
            </a:r>
            <a:br/>
            <a:r>
              <a:t>Migration progressive depuis l'existant</a:t>
            </a:r>
            <a:br/>
            <a:r>
              <a:t>Gratuit et open-source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3035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Base de données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PostgreSQL 16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0" y="1417320"/>
            <a:ext cx="640080" cy="64008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2834640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332720" y="15361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4,60/5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402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Gratuit, remplacement d'Oracle</a:t>
            </a:r>
            <a:br/>
            <a:r>
              <a:t>Utilisé par les plus grands acteurs</a:t>
            </a:r>
            <a:br/>
            <a:r>
              <a:t>Compatible avec le cloud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53035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Messagerie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RabbitMQ</a:t>
            </a:r>
          </a:p>
        </p:txBody>
      </p:sp>
      <p:sp>
        <p:nvSpPr>
          <p:cNvPr id="24" name="Oval 23"/>
          <p:cNvSpPr/>
          <p:nvPr/>
        </p:nvSpPr>
        <p:spPr>
          <a:xfrm>
            <a:off x="4663440" y="4160520"/>
            <a:ext cx="640080" cy="64008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557784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63440" y="42793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4,55/5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834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Simple à mettre en place</a:t>
            </a:r>
            <a:br/>
            <a:r>
              <a:t>Stocks mis à jour instantanément</a:t>
            </a:r>
            <a:br/>
            <a:r>
              <a:t>Adapté à la taille de BricoLoc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931920"/>
            <a:ext cx="53035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Hébergement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Microsoft Azure</a:t>
            </a:r>
          </a:p>
        </p:txBody>
      </p:sp>
      <p:sp>
        <p:nvSpPr>
          <p:cNvPr id="32" name="Oval 31"/>
          <p:cNvSpPr/>
          <p:nvPr/>
        </p:nvSpPr>
        <p:spPr>
          <a:xfrm>
            <a:off x="10332720" y="4160520"/>
            <a:ext cx="640080" cy="64008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5577840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332720" y="42793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4,75/5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9834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Compatible avec nos outils existants</a:t>
            </a:r>
            <a:br/>
            <a:r>
              <a:t>Office 365, Power BI, Active Directory</a:t>
            </a:r>
            <a:br/>
            <a:r>
              <a:t>Base de données gérée incluse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13 / 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821424"/>
            <a:ext cx="720418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4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Architecture &amp; Conception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566160"/>
            <a:ext cx="2133295" cy="27432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EE6D8"/>
                </a:solidFill>
                <a:latin typeface="Inter"/>
              </a:defRPr>
            </a:pPr>
            <a:r>
              <a:t>Du diagnostic aux solutions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14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21424"/>
            <a:ext cx="775835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10. Architecture logique — Vue d'ensemble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188720"/>
            <a:ext cx="8503920" cy="822960"/>
          </a:xfrm>
          <a:prstGeom prst="roundRect">
            <a:avLst/>
          </a:prstGeom>
          <a:solidFill>
            <a:srgbClr val="EEE6D8"/>
          </a:solidFill>
          <a:ln w="25400">
            <a:solidFill>
              <a:srgbClr val="B67332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12618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Utilisateurs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645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Web · Mobile · Partenaires · Salariés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8" y="1417320"/>
            <a:ext cx="365760" cy="365760"/>
          </a:xfrm>
          <a:prstGeom prst="rect">
            <a:avLst/>
          </a:prstGeom>
        </p:spPr>
      </p:pic>
      <p:sp>
        <p:nvSpPr>
          <p:cNvPr id="8" name="Down Arrow 7"/>
          <p:cNvSpPr/>
          <p:nvPr/>
        </p:nvSpPr>
        <p:spPr>
          <a:xfrm>
            <a:off x="5943600" y="2020824"/>
            <a:ext cx="274320" cy="118872"/>
          </a:xfrm>
          <a:prstGeom prst="downArrow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2148840"/>
            <a:ext cx="85039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AAB3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222199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Point d'entrée sécurisé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606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Authentification · Protection · Routage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08" y="2377440"/>
            <a:ext cx="365760" cy="365760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5943600" y="2980944"/>
            <a:ext cx="274320" cy="118872"/>
          </a:xfrm>
          <a:prstGeom prst="downArrow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3108960"/>
            <a:ext cx="85039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441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18211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3441A"/>
                </a:solidFill>
                <a:latin typeface="Inter"/>
              </a:defRPr>
            </a:pPr>
            <a:r>
              <a:t>Application BricoLoc 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5661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9 modules métier indépendants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08" y="3337560"/>
            <a:ext cx="365760" cy="365760"/>
          </a:xfrm>
          <a:prstGeom prst="rect">
            <a:avLst/>
          </a:prstGeom>
        </p:spPr>
      </p:pic>
      <p:sp>
        <p:nvSpPr>
          <p:cNvPr id="18" name="Down Arrow 17"/>
          <p:cNvSpPr/>
          <p:nvPr/>
        </p:nvSpPr>
        <p:spPr>
          <a:xfrm>
            <a:off x="5943600" y="3941064"/>
            <a:ext cx="274320" cy="118872"/>
          </a:xfrm>
          <a:prstGeom prst="down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828800" y="4069080"/>
            <a:ext cx="85039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AAB3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414223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Messagerie temps réel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5262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Communication instantanée entre modules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808" y="4297680"/>
            <a:ext cx="365760" cy="365760"/>
          </a:xfrm>
          <a:prstGeom prst="rect">
            <a:avLst/>
          </a:prstGeom>
        </p:spPr>
      </p:pic>
      <p:sp>
        <p:nvSpPr>
          <p:cNvPr id="23" name="Down Arrow 22"/>
          <p:cNvSpPr/>
          <p:nvPr/>
        </p:nvSpPr>
        <p:spPr>
          <a:xfrm>
            <a:off x="5943600" y="4901184"/>
            <a:ext cx="274320" cy="118872"/>
          </a:xfrm>
          <a:prstGeom prst="downArrow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28800" y="5029200"/>
            <a:ext cx="8503920" cy="822960"/>
          </a:xfrm>
          <a:prstGeom prst="roundRect">
            <a:avLst/>
          </a:prstGeom>
          <a:solidFill>
            <a:srgbClr val="EEE6D8"/>
          </a:solidFill>
          <a:ln w="25400">
            <a:solidFill>
              <a:srgbClr val="B67332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03120" y="510235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Stockage des données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54864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Base de données · Cache · Fichiers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08" y="5257800"/>
            <a:ext cx="365760" cy="36576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6263640" y="3218688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1821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Catalogue</a:t>
            </a:r>
          </a:p>
        </p:txBody>
      </p:sp>
      <p:sp>
        <p:nvSpPr>
          <p:cNvPr id="30" name="Oval 29"/>
          <p:cNvSpPr/>
          <p:nvPr/>
        </p:nvSpPr>
        <p:spPr>
          <a:xfrm>
            <a:off x="7543800" y="3218688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31821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Réservation</a:t>
            </a:r>
          </a:p>
        </p:txBody>
      </p:sp>
      <p:sp>
        <p:nvSpPr>
          <p:cNvPr id="32" name="Oval 31"/>
          <p:cNvSpPr/>
          <p:nvPr/>
        </p:nvSpPr>
        <p:spPr>
          <a:xfrm>
            <a:off x="8823960" y="3218688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31821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Stocks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456432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198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Paiement</a:t>
            </a:r>
          </a:p>
        </p:txBody>
      </p:sp>
      <p:sp>
        <p:nvSpPr>
          <p:cNvPr id="36" name="Oval 35"/>
          <p:cNvSpPr/>
          <p:nvPr/>
        </p:nvSpPr>
        <p:spPr>
          <a:xfrm>
            <a:off x="7543800" y="3456432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0" y="34198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Utilisateurs</a:t>
            </a:r>
          </a:p>
        </p:txBody>
      </p:sp>
      <p:sp>
        <p:nvSpPr>
          <p:cNvPr id="38" name="Oval 37"/>
          <p:cNvSpPr/>
          <p:nvPr/>
        </p:nvSpPr>
        <p:spPr>
          <a:xfrm>
            <a:off x="8823960" y="3456432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0" y="34198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Notifications</a:t>
            </a:r>
          </a:p>
        </p:txBody>
      </p:sp>
      <p:sp>
        <p:nvSpPr>
          <p:cNvPr id="40" name="Oval 39"/>
          <p:cNvSpPr/>
          <p:nvPr/>
        </p:nvSpPr>
        <p:spPr>
          <a:xfrm>
            <a:off x="6263640" y="3694176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3657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Admin</a:t>
            </a:r>
          </a:p>
        </p:txBody>
      </p:sp>
      <p:sp>
        <p:nvSpPr>
          <p:cNvPr id="42" name="Oval 41"/>
          <p:cNvSpPr/>
          <p:nvPr/>
        </p:nvSpPr>
        <p:spPr>
          <a:xfrm>
            <a:off x="7543800" y="3694176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3657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Marque Blanche</a:t>
            </a:r>
          </a:p>
        </p:txBody>
      </p:sp>
      <p:sp>
        <p:nvSpPr>
          <p:cNvPr id="44" name="Oval 43"/>
          <p:cNvSpPr/>
          <p:nvPr/>
        </p:nvSpPr>
        <p:spPr>
          <a:xfrm>
            <a:off x="8823960" y="3694176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3657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Intégration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2880" y="2286000"/>
            <a:ext cx="1463040" cy="3200400"/>
          </a:xfrm>
          <a:prstGeom prst="roundRect">
            <a:avLst/>
          </a:prstGeom>
          <a:solidFill>
            <a:srgbClr val="EEE6D8"/>
          </a:solidFill>
          <a:ln w="25400">
            <a:solidFill>
              <a:srgbClr val="93441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600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Partenaires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2651760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SAP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  Stocks &amp; compta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Stripe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  Paiements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Power BI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  Analyse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664208" y="3200400"/>
            <a:ext cx="365760" cy="182880"/>
          </a:xfrm>
          <a:prstGeom prst="right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eft Arrow 49"/>
          <p:cNvSpPr/>
          <p:nvPr/>
        </p:nvSpPr>
        <p:spPr>
          <a:xfrm>
            <a:off x="1664208" y="3657600"/>
            <a:ext cx="365760" cy="182880"/>
          </a:xfrm>
          <a:prstGeom prst="left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15 / 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821424"/>
            <a:ext cx="831251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10b. Les 9 modules de BricoLoc 2.0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044"/>
                </a:solidFill>
                <a:latin typeface="Inter"/>
              </a:defRPr>
            </a:pPr>
            <a:r>
              <a:t>Un écosystème modulaire interdépendant</a:t>
            </a:r>
          </a:p>
        </p:txBody>
      </p:sp>
      <p:sp>
        <p:nvSpPr>
          <p:cNvPr id="5" name="Oval 4"/>
          <p:cNvSpPr/>
          <p:nvPr/>
        </p:nvSpPr>
        <p:spPr>
          <a:xfrm>
            <a:off x="5272430" y="3108960"/>
            <a:ext cx="1645920" cy="1645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7243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BricoLoc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72430" y="3977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Inter"/>
              </a:defRPr>
            </a:pPr>
            <a:r>
              <a:t>2.0</a:t>
            </a:r>
          </a:p>
        </p:txBody>
      </p:sp>
      <p:sp>
        <p:nvSpPr>
          <p:cNvPr id="8" name="Oval 7"/>
          <p:cNvSpPr/>
          <p:nvPr/>
        </p:nvSpPr>
        <p:spPr>
          <a:xfrm>
            <a:off x="3535070" y="1371600"/>
            <a:ext cx="5120640" cy="5120640"/>
          </a:xfrm>
          <a:prstGeom prst="ellipse">
            <a:avLst/>
          </a:prstGeom>
          <a:noFill/>
          <a:ln w="19050">
            <a:solidFill>
              <a:srgbClr val="EEE6D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89550" y="82296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9550" y="822960"/>
            <a:ext cx="20116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798" y="91440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099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Catalogue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99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Outils &amp; recherche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35291" y="1421961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5291" y="1421961"/>
            <a:ext cx="20116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6539" y="1513401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26731" y="187916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Réservation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6731" y="215348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Locations &amp; calendrier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0972" y="2938685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10972" y="2938685"/>
            <a:ext cx="20116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2220" y="3030125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02412" y="339588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Stocks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2412" y="367020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Temps réel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6852" y="46634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06852" y="4663440"/>
            <a:ext cx="20116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100" y="4754880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8292" y="5120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Paiement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8292" y="5394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Transactions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5231" y="5789193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5231" y="5789193"/>
            <a:ext cx="20116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6479" y="5880633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56671" y="624639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Utilisateurs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56671" y="6520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Comptes &amp; accès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13868" y="5789193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13868" y="5789193"/>
            <a:ext cx="20116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116" y="5880633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05308" y="624639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Notifications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5308" y="6520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Alertes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72247" y="46634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2247" y="4663440"/>
            <a:ext cx="201168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3495" y="4754880"/>
            <a:ext cx="329184" cy="3291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963687" y="5120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Admin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63687" y="5394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Back-office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8127" y="2938685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8127" y="2938685"/>
            <a:ext cx="201168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375" y="3030125"/>
            <a:ext cx="329184" cy="32918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659567" y="339588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Marque Blanche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59567" y="367020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SaaS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3808" y="1421961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43808" y="1421961"/>
            <a:ext cx="201168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5056" y="1513401"/>
            <a:ext cx="329184" cy="32918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535248" y="187916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Intégration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35248" y="215348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SAP/Stripe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2786E"/>
                </a:solidFill>
                <a:latin typeface="Inter"/>
              </a:defRPr>
            </a:pPr>
            <a:r>
              <a:t>Une architecture modulaire : chaque brique remplit une mission précise au sein du système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16 / 22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0" y="6821424"/>
            <a:ext cx="886668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9" grpId="0" animBg="1"/>
    <p:bldP spid="10" grpId="0" animBg="1"/>
    <p:bldP spid="11" grpId="0" animBg="1"/>
    <p:bldP spid="12" grpId="0" animBg="1"/>
    <p:bldP spid="13" grpId="0" animBg="1"/>
    <p:bldP spid="14" grpId="0" animBg="1"/>
    <p:bldP spid="15" grpId="0" animBg="1"/>
    <p:bldP spid="16" grpId="0" animBg="1"/>
    <p:bldP spid="17" grpId="0" animBg="1"/>
    <p:bldP spid="18" grpId="0" animBg="1"/>
    <p:bldP spid="19" grpId="0" animBg="1"/>
    <p:bldP spid="20" grpId="0" animBg="1"/>
    <p:bldP spid="21" grpId="0" animBg="1"/>
    <p:bldP spid="22" grpId="0" animBg="1"/>
    <p:bldP spid="23" grpId="0" animBg="1"/>
    <p:bldP spid="24" grpId="0" animBg="1"/>
    <p:bldP spid="25" grpId="0" animBg="1"/>
    <p:bldP spid="26" grpId="0" animBg="1"/>
    <p:bldP spid="27" grpId="0" animBg="1"/>
    <p:bldP spid="28" grpId="0" animBg="1"/>
    <p:bldP spid="29" grpId="0" animBg="1"/>
    <p:bldP spid="30" grpId="0" animBg="1"/>
    <p:bldP spid="31" grpId="0" animBg="1"/>
    <p:bldP spid="32" grpId="0" animBg="1"/>
    <p:bldP spid="33" grpId="0" animBg="1"/>
    <p:bldP spid="34" grpId="0" animBg="1"/>
    <p:bldP spid="35" grpId="0" animBg="1"/>
    <p:bldP spid="36" grpId="0" animBg="1"/>
    <p:bldP spid="37" grpId="0" animBg="1"/>
    <p:bldP spid="38" grpId="0" animBg="1"/>
    <p:bldP spid="39" grpId="0" animBg="1"/>
    <p:bldP spid="40" grpId="0" animBg="1"/>
    <p:bldP spid="41" grpId="0" animBg="1"/>
    <p:bldP spid="42" grpId="0" animBg="1"/>
    <p:bldP spid="43" grpId="0" animBg="1"/>
    <p:bldP spid="44" grpId="0" animBg="1"/>
    <p:bldP spid="45" grpId="0" animBg="1"/>
    <p:bldP spid="46" grpId="0" animBg="1"/>
    <p:bldP spid="47" grpId="0" animBg="1"/>
    <p:bldP spid="48" grpId="0" animBg="1"/>
    <p:bldP spid="49" grpId="0" animBg="1"/>
    <p:bldP spid="50" grpId="0" animBg="1"/>
    <p:bldP spid="51" grpId="0" animBg="1"/>
    <p:bldP spid="52" grpId="0" animBg="1"/>
    <p:bldP spid="53" grpId="0" animBg="1"/>
  </p:bldLst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4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Mise en œuvre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566160"/>
            <a:ext cx="2133295" cy="27432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EE6D8"/>
                </a:solidFill>
                <a:latin typeface="Inter"/>
              </a:defRPr>
            </a:pPr>
            <a:r>
              <a:t>De la conception au terrain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17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21424"/>
            <a:ext cx="942085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11. Plan de migration en 7 étapes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457200" y="1280160"/>
            <a:ext cx="1508760" cy="118872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Fondations</a:t>
            </a:r>
          </a:p>
        </p:txBody>
      </p:sp>
      <p:sp>
        <p:nvSpPr>
          <p:cNvPr id="7" name="Chevron 6"/>
          <p:cNvSpPr/>
          <p:nvPr/>
        </p:nvSpPr>
        <p:spPr>
          <a:xfrm>
            <a:off x="2011680" y="1280160"/>
            <a:ext cx="1508760" cy="118872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Stocks</a:t>
            </a:r>
          </a:p>
        </p:txBody>
      </p:sp>
      <p:sp>
        <p:nvSpPr>
          <p:cNvPr id="10" name="Chevron 9"/>
          <p:cNvSpPr/>
          <p:nvPr/>
        </p:nvSpPr>
        <p:spPr>
          <a:xfrm>
            <a:off x="3566160" y="1280160"/>
            <a:ext cx="1508760" cy="1188720"/>
          </a:xfrm>
          <a:prstGeom prst="chevron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2822"/>
                </a:solidFill>
                <a:latin typeface="Inter"/>
              </a:defRPr>
            </a:pPr>
            <a:r>
              <a:t>Comptes</a:t>
            </a:r>
          </a:p>
        </p:txBody>
      </p:sp>
      <p:sp>
        <p:nvSpPr>
          <p:cNvPr id="13" name="Chevron 12"/>
          <p:cNvSpPr/>
          <p:nvPr/>
        </p:nvSpPr>
        <p:spPr>
          <a:xfrm>
            <a:off x="5120640" y="1280160"/>
            <a:ext cx="1508760" cy="1188720"/>
          </a:xfrm>
          <a:prstGeom prst="chevron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2822"/>
                </a:solidFill>
                <a:latin typeface="Inter"/>
              </a:defRPr>
            </a:pPr>
            <a:r>
              <a:t>Catalogue</a:t>
            </a:r>
          </a:p>
        </p:txBody>
      </p:sp>
      <p:sp>
        <p:nvSpPr>
          <p:cNvPr id="16" name="Chevron 15"/>
          <p:cNvSpPr/>
          <p:nvPr/>
        </p:nvSpPr>
        <p:spPr>
          <a:xfrm>
            <a:off x="6675120" y="1280160"/>
            <a:ext cx="1508760" cy="118872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Paiement</a:t>
            </a:r>
          </a:p>
        </p:txBody>
      </p:sp>
      <p:sp>
        <p:nvSpPr>
          <p:cNvPr id="19" name="Chevron 18"/>
          <p:cNvSpPr/>
          <p:nvPr/>
        </p:nvSpPr>
        <p:spPr>
          <a:xfrm>
            <a:off x="8229600" y="1280160"/>
            <a:ext cx="1508760" cy="118872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Partenaires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9784080" y="1280160"/>
            <a:ext cx="1508760" cy="1188720"/>
          </a:xfrm>
          <a:prstGeom prst="chevron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2822"/>
                </a:solidFill>
                <a:latin typeface="Inter"/>
              </a:defRPr>
            </a:pPr>
            <a:r>
              <a:t>Fin legacy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150876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2-3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Mettre en place les</a:t>
            </a:r>
            <a:br/>
            <a:r>
              <a:t>outils de développement</a:t>
            </a:r>
            <a:br/>
            <a:r>
              <a:t>et la nouvelle base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0" y="2743200"/>
            <a:ext cx="150876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3-4 mois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Remplacer le fichier</a:t>
            </a:r>
            <a:br/>
            <a:r>
              <a:t>CSV par des mises à jour</a:t>
            </a:r>
            <a:br/>
            <a:r>
              <a:t>en temps réel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66160" y="2743200"/>
            <a:ext cx="150876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1188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2-3 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Nouveau système</a:t>
            </a:r>
            <a:br/>
            <a:r>
              <a:t>de connexion sécurisé</a:t>
            </a:r>
            <a:br/>
            <a:r>
              <a:t>et gestion des accès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2064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0" y="2743200"/>
            <a:ext cx="150876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6636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4-6 mois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6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Refonte du catalogue</a:t>
            </a:r>
            <a:br/>
            <a:r>
              <a:t>et du système de</a:t>
            </a:r>
            <a:br/>
            <a:r>
              <a:t>réservation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75120" y="2743200"/>
            <a:ext cx="150876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2-3 mois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Paiement en ligne</a:t>
            </a:r>
            <a:br/>
            <a:r>
              <a:t>sécurisé et alertes</a:t>
            </a:r>
            <a:br/>
            <a:r>
              <a:t>automatiques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0" y="2743200"/>
            <a:ext cx="150876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3-4 mois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Ouverture aux</a:t>
            </a:r>
            <a:br/>
            <a:r>
              <a:t>partenaires et</a:t>
            </a:r>
            <a:br/>
            <a:r>
              <a:t>expansion européenne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8408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784080" y="2743200"/>
            <a:ext cx="150876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980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1-2 mois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Extinction définitive</a:t>
            </a:r>
            <a:br/>
            <a:r>
              <a:t>de l'ancien système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303520"/>
            <a:ext cx="11247120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L'ancien et le nouveau système coexistent — aucune interruption de service</a:t>
            </a:r>
          </a:p>
        </p:txBody>
      </p:sp>
      <p:sp>
        <p:nvSpPr>
          <p:cNvPr id="55" name="Oval 54"/>
          <p:cNvSpPr/>
          <p:nvPr/>
        </p:nvSpPr>
        <p:spPr>
          <a:xfrm>
            <a:off x="118872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74320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9768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216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40664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96112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51560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18 / 22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821424"/>
            <a:ext cx="997502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4" grpId="0" animBg="1"/>
    <p:bldP spid="5" grpId="0" animBg="1"/>
    <p:bldP spid="6" grpId="0" animBg="1"/>
    <p:bldP spid="25" grpId="0" animBg="1"/>
    <p:bldP spid="26" grpId="0" animBg="1"/>
    <p:bldP spid="27" grpId="0" animBg="1"/>
    <p:bldP spid="28" grpId="0" animBg="1"/>
    <p:bldP spid="7" grpId="0" animBg="1"/>
    <p:bldP spid="8" grpId="0" animBg="1"/>
    <p:bldP spid="9" grpId="0" animBg="1"/>
    <p:bldP spid="29" grpId="0" animBg="1"/>
    <p:bldP spid="30" grpId="0" animBg="1"/>
    <p:bldP spid="31" grpId="0" animBg="1"/>
    <p:bldP spid="32" grpId="0" animBg="1"/>
    <p:bldP spid="10" grpId="0" animBg="1"/>
    <p:bldP spid="11" grpId="0" animBg="1"/>
    <p:bldP spid="12" grpId="0" animBg="1"/>
    <p:bldP spid="33" grpId="0" animBg="1"/>
    <p:bldP spid="34" grpId="0" animBg="1"/>
    <p:bldP spid="35" grpId="0" animBg="1"/>
    <p:bldP spid="36" grpId="0" animBg="1"/>
    <p:bldP spid="13" grpId="0" animBg="1"/>
    <p:bldP spid="14" grpId="0" animBg="1"/>
    <p:bldP spid="15" grpId="0" animBg="1"/>
    <p:bldP spid="37" grpId="0" animBg="1"/>
    <p:bldP spid="38" grpId="0" animBg="1"/>
    <p:bldP spid="39" grpId="0" animBg="1"/>
    <p:bldP spid="40" grpId="0" animBg="1"/>
    <p:bldP spid="16" grpId="0" animBg="1"/>
    <p:bldP spid="17" grpId="0" animBg="1"/>
    <p:bldP spid="18" grpId="0" animBg="1"/>
    <p:bldP spid="41" grpId="0" animBg="1"/>
    <p:bldP spid="42" grpId="0" animBg="1"/>
    <p:bldP spid="43" grpId="0" animBg="1"/>
    <p:bldP spid="44" grpId="0" animBg="1"/>
    <p:bldP spid="19" grpId="0" animBg="1"/>
    <p:bldP spid="20" grpId="0" animBg="1"/>
    <p:bldP spid="21" grpId="0" animBg="1"/>
    <p:bldP spid="45" grpId="0" animBg="1"/>
    <p:bldP spid="46" grpId="0" animBg="1"/>
    <p:bldP spid="47" grpId="0" animBg="1"/>
    <p:bldP spid="48" grpId="0" animBg="1"/>
    <p:bldP spid="22" grpId="0" animBg="1"/>
    <p:bldP spid="23" grpId="0" animBg="1"/>
    <p:bldP spid="24" grpId="0" animBg="1"/>
    <p:bldP spid="49" grpId="0" animBg="1"/>
    <p:bldP spid="50" grpId="0" animBg="1"/>
    <p:bldP spid="51" grpId="0" animBg="1"/>
    <p:bldP spid="52" grpId="0" animBg="1"/>
  </p:bldLst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Règles d'architecture (garde-fous)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40180" y="1280160"/>
            <a:ext cx="502920" cy="502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Isolation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module a ses</a:t>
            </a:r>
            <a:br/>
            <a:r>
              <a:t>propres données. Pas</a:t>
            </a:r>
            <a:br/>
            <a:r>
              <a:t>d'accès croisés.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3008376"/>
            <a:ext cx="256032" cy="2560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10896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91940" y="1280160"/>
            <a:ext cx="502920" cy="50292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194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Simplicité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La logique métier reste</a:t>
            </a:r>
            <a:br/>
            <a:r>
              <a:t>dans le code, jamais</a:t>
            </a:r>
            <a:br/>
            <a:r>
              <a:t>dans la base de données.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3008376"/>
            <a:ext cx="256032" cy="25603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76072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43700" y="1280160"/>
            <a:ext cx="502920" cy="50292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370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R03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Passerelle unique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Un seul point de contact</a:t>
            </a:r>
            <a:br/>
            <a:r>
              <a:t>avec les systèmes</a:t>
            </a:r>
            <a:br/>
            <a:r>
              <a:t>externes (SAP, Stripe...).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0416" y="3008376"/>
            <a:ext cx="256032" cy="25603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41248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95460" y="1280160"/>
            <a:ext cx="502920" cy="502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46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Sécurité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Toute requête extérieure</a:t>
            </a:r>
            <a:br/>
            <a:r>
              <a:t>est vérifiée et</a:t>
            </a:r>
            <a:br/>
            <a:r>
              <a:t>authentifiée.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76" y="3008376"/>
            <a:ext cx="256032" cy="25603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5720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40180" y="3657600"/>
            <a:ext cx="502920" cy="50292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4018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Données bancaires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Aucune donnée de carte</a:t>
            </a:r>
            <a:br/>
            <a:r>
              <a:t>bancaire ne passe par</a:t>
            </a:r>
            <a:br/>
            <a:r>
              <a:t>nos serveurs.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6896" y="5385816"/>
            <a:ext cx="256032" cy="256032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10896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91940" y="3657600"/>
            <a:ext cx="502920" cy="50292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9194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R06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module possède</a:t>
            </a:r>
            <a:br/>
            <a:r>
              <a:t>son propre espace</a:t>
            </a:r>
            <a:br/>
            <a:r>
              <a:t>de stockage dédié.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656" y="5385816"/>
            <a:ext cx="256032" cy="25603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576072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43700" y="3657600"/>
            <a:ext cx="502920" cy="502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Traçabilité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5216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message échangé</a:t>
            </a:r>
            <a:br/>
            <a:r>
              <a:t>entre modules est</a:t>
            </a:r>
            <a:br/>
            <a:r>
              <a:t>versionné et traçable.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16" y="5385816"/>
            <a:ext cx="256032" cy="256032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41248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5460" y="3657600"/>
            <a:ext cx="502920" cy="50292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9546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Déploiement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Tout le code est versionné</a:t>
            </a:r>
            <a:br/>
            <a:r>
              <a:t>sur Git. Aucun envoi</a:t>
            </a:r>
            <a:br/>
            <a:r>
              <a:t>manuel autorisé.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52176" y="5385816"/>
            <a:ext cx="256032" cy="2560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7200" y="5669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2786E"/>
                </a:solidFill>
                <a:latin typeface="Inter"/>
              </a:defRPr>
            </a:pPr>
            <a:r>
              <a:t>Ces garde-fous évitent de reproduire les problèmes du système actuel</a:t>
            </a: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19 / 22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0" y="6821424"/>
            <a:ext cx="1052919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4" grpId="0" animBg="1"/>
    <p:bldP spid="5" grpId="0" animBg="1"/>
    <p:bldP spid="6" grpId="0" animBg="1"/>
    <p:bldP spid="7" grpId="0" animBg="1"/>
    <p:bldP spid="8" grpId="0" animBg="1"/>
    <p:bldP spid="9" grpId="0" animBg="1"/>
    <p:bldP spid="10" grpId="0" animBg="1"/>
    <p:bldP spid="11" grpId="0" animBg="1"/>
    <p:bldP spid="12" grpId="0" animBg="1"/>
    <p:bldP spid="13" grpId="0" animBg="1"/>
    <p:bldP spid="14" grpId="0" animBg="1"/>
    <p:bldP spid="15" grpId="0" animBg="1"/>
    <p:bldP spid="16" grpId="0" animBg="1"/>
    <p:bldP spid="17" grpId="0" animBg="1"/>
    <p:bldP spid="18" grpId="0" animBg="1"/>
    <p:bldP spid="19" grpId="0" animBg="1"/>
    <p:bldP spid="20" grpId="0" animBg="1"/>
    <p:bldP spid="21" grpId="0" animBg="1"/>
    <p:bldP spid="22" grpId="0" animBg="1"/>
    <p:bldP spid="23" grpId="0" animBg="1"/>
    <p:bldP spid="24" grpId="0" animBg="1"/>
    <p:bldP spid="25" grpId="0" animBg="1"/>
    <p:bldP spid="26" grpId="0" animBg="1"/>
    <p:bldP spid="27" grpId="0" animBg="1"/>
    <p:bldP spid="28" grpId="0" animBg="1"/>
    <p:bldP spid="29" grpId="0" animBg="1"/>
    <p:bldP spid="30" grpId="0" animBg="1"/>
    <p:bldP spid="31" grpId="0" animBg="1"/>
    <p:bldP spid="32" grpId="0" animBg="1"/>
    <p:bldP spid="33" grpId="0" animBg="1"/>
    <p:bldP spid="34" grpId="0" animBg="1"/>
    <p:bldP spid="35" grpId="0" animBg="1"/>
    <p:bldP spid="36" grpId="0" animBg="1"/>
    <p:bldP spid="37" grpId="0" animBg="1"/>
    <p:bldP spid="38" grpId="0" animBg="1"/>
    <p:bldP spid="39" grpId="0" animBg="1"/>
    <p:bldP spid="40" grpId="0" animBg="1"/>
    <p:bldP spid="41" grpId="0" animBg="1"/>
    <p:bldP spid="42" grpId="0" animBg="1"/>
    <p:bldP spid="43" grpId="0" animBg="1"/>
    <p:bldP spid="44" grpId="0" animBg="1"/>
    <p:bldP spid="45" grpId="0" animBg="1"/>
    <p:bldP spid="46" grpId="0" animBg="1"/>
    <p:bldP spid="47" grpId="0" animBg="1"/>
    <p:bldP spid="48" grpId="0" animBg="1"/>
    <p:bldP spid="49" grpId="0" animBg="1"/>
    <p:bldP spid="50" grpId="0" animBg="1"/>
    <p:bldP spid="51" grpId="0" animBg="1"/>
  </p:bldLst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Répartition de l'équipe de développement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1031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463040"/>
            <a:ext cx="822960" cy="82296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MH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Marion 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Java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Réservations</a:t>
            </a:r>
            <a:br/>
            <a:r>
              <a:t>Gestion des stocks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80160"/>
            <a:ext cx="21031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3280" y="1463040"/>
            <a:ext cx="822960" cy="82296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Piotr 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complet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Catalogue d'outils</a:t>
            </a:r>
            <a:br/>
            <a:r>
              <a:t>Interface admin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280160"/>
            <a:ext cx="21031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69280" y="1463040"/>
            <a:ext cx="822960" cy="82296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Thibaut 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Java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Comptes utilisateurs</a:t>
            </a:r>
            <a:br/>
            <a:r>
              <a:t>Espace partenaires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280160"/>
            <a:ext cx="21031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80" y="1463040"/>
            <a:ext cx="822960" cy="82296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HD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Hervé 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mixte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Paiements en ligne</a:t>
            </a:r>
            <a:br/>
            <a:r>
              <a:t>Connexions externes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80160"/>
            <a:ext cx="21031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41280" y="1463040"/>
            <a:ext cx="822960" cy="82296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Isabelle 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Données &amp; analyse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Tableaux de bord</a:t>
            </a:r>
            <a:br/>
            <a:r>
              <a:t>Tests &amp; qualité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669280"/>
            <a:ext cx="11247120" cy="548640"/>
          </a:xfrm>
          <a:prstGeom prst="roundRect">
            <a:avLst/>
          </a:prstGeom>
          <a:solidFill>
            <a:srgbClr val="EEE6D8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74243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Chaque développeur a un périmètre défini pour éviter les conflits et répartir la charge de travail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20 / 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821424"/>
            <a:ext cx="1108335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12. Conclusion &amp;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560320"/>
          </a:xfrm>
          <a:prstGeom prst="roundRect">
            <a:avLst/>
          </a:prstGeom>
          <a:solidFill>
            <a:srgbClr val="93441A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Une architecture</a:t>
            </a:r>
            <a:br/>
            <a:r>
              <a:t>adaptée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Inter"/>
              </a:defRPr>
            </a:pPr>
            <a:r>
              <a:t>Pensée pour une équipe de 5,</a:t>
            </a:r>
            <a:br/>
            <a:r>
              <a:t>avec des technologies</a:t>
            </a:r>
            <a:br/>
            <a:r>
              <a:t>que nous maîtrisons déjà.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474720" cy="2560320"/>
          </a:xfrm>
          <a:prstGeom prst="roundRect">
            <a:avLst/>
          </a:prstGeom>
          <a:solidFill>
            <a:srgbClr val="B67332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Une migration</a:t>
            </a:r>
            <a:br/>
            <a:r>
              <a:t>sans risque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1031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Inter"/>
              </a:defRPr>
            </a:pPr>
            <a:r>
              <a:t>7 étapes progressives,</a:t>
            </a:r>
            <a:br/>
            <a:r>
              <a:t>l'ancien et le nouveau</a:t>
            </a:r>
            <a:br/>
            <a:r>
              <a:t>coexistent en parallèle.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188720"/>
            <a:ext cx="3474720" cy="256032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Tous les problèmes</a:t>
            </a:r>
            <a:br/>
            <a:r>
              <a:t>adressés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031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Chaque point faible</a:t>
            </a:r>
            <a:br/>
            <a:r>
              <a:t>est couvert, avec des</a:t>
            </a:r>
            <a:br/>
            <a:r>
              <a:t>gardes-fous pour éviter</a:t>
            </a:r>
            <a:br/>
            <a:r>
              <a:t>les mêmes erreurs.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112471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112471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3441A"/>
                </a:solidFill>
                <a:latin typeface="Inter"/>
              </a:defRPr>
            </a:pPr>
            <a:r>
              <a:t>Et après ?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663440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Expansion européenne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6634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Ouverture vers Bruxelles, Lausanne et Francfort en multilingue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7492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Évolution 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074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Si l'équipe grandit, on peut découper davantage l'application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Application mobile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4864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Une application mobile pour les clients, grâce aux APIs déjà prêtes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21 / 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21424"/>
            <a:ext cx="1163752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3108960"/>
            <a:ext cx="304769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2822"/>
                </a:solidFill>
                <a:latin typeface="Inter"/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93441A"/>
                </a:solidFill>
                <a:latin typeface="Inter"/>
              </a:defRPr>
            </a:pPr>
            <a:r>
              <a:t>Questions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389120"/>
            <a:ext cx="2133295" cy="2286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Romain  ·  Maëlle  ·  Loris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2786E"/>
                </a:solidFill>
                <a:latin typeface="Inter"/>
              </a:defRPr>
            </a:pPr>
            <a:r>
              <a:t>Master 1 Architecte d'Application — CESI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22 /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2822"/>
                </a:solidFill>
              </a:defRPr>
            </a:pPr>
            <a:r>
              <a:t>3b. Diagramme de l'Architecture Existante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044"/>
                </a:solidFill>
              </a:defRPr>
            </a:pPr>
            <a:r>
              <a:t>Ressource technique détaillée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E2822"/>
                </a:solidFill>
              </a:defRPr>
            </a:pPr>
            <a:r>
              <a:t>L'architecture existante complexe a été intégralement cartographiée au format Draw.io.</a:t>
            </a:r>
          </a:p>
          <a:p>
            <a:br/>
            <a:pPr>
              <a:defRPr sz="1600">
                <a:solidFill>
                  <a:srgbClr val="93441A"/>
                </a:solidFill>
              </a:defRPr>
            </a:pPr>
            <a:r>
              <a:t>Ressource interne (Lien vers le fichier source) :</a:t>
            </a:r>
          </a:p>
          <a:p>
            <a:pPr>
              <a:defRPr sz="1800"/>
            </a:pPr>
            <a:r>
              <a:rPr>
                <a:hlinkClick r:id="rId2"/>
              </a:rPr>
              <a:t>contexte_bricoloc (2).drawio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2822"/>
                </a:solidFill>
              </a:defRPr>
            </a:pPr>
            <a:r>
              <a:t>10b. Architecture Cible Détaillée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044"/>
                </a:solidFill>
              </a:defRPr>
            </a:pPr>
            <a:r>
              <a:t>Basée sur schema-infrastructure-cible-v2.drawio</a:t>
            </a:r>
          </a:p>
        </p:txBody>
      </p:sp>
      <p:pic>
        <p:nvPicPr>
          <p:cNvPr id="5" name="Picture 4" descr="cible_merm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2918" y="1645920"/>
            <a:ext cx="13917531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17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044"/>
                </a:solidFill>
              </a:defRPr>
            </a:pPr>
            <a:r>
              <a:rPr>
                <a:hlinkClick r:id="rId3"/>
              </a:rPr>
              <a:t>Visualiser le fichier source interactif : schema-infrastructure-cible-v2.drawio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