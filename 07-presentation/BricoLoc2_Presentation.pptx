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926080"/>
            <a:ext cx="12191695" cy="73152"/>
          </a:xfrm>
          <a:prstGeom prst="round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BricoLoc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D6"/>
                </a:solidFill>
                <a:latin typeface="Segoe UI"/>
              </a:defRPr>
            </a:pPr>
            <a:r>
              <a:t>Architecture logicielle — Dossier de 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BB"/>
                </a:solidFill>
                <a:latin typeface="Segoe UI"/>
              </a:defRPr>
            </a:pPr>
            <a:r>
              <a:t>Master 1 Architecte d'Application — CESI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Romain  ·  Maëlle  ·  Loris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Sommaire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 Organisation du groupe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 Contexte &amp; objectifs du projet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 Analyse du SI existant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 Points faibles identifiés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5.  Exigences non fonctionnelles (ENF)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6.  Axes d'amélioration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7.   Comparaison des styles architecturaux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8.   Styles retenus &amp; justification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9.   Choix technologiques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10.  Architecture logique cible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11.  Stratégie de migration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12.  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1. Organisation du groupe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Équipe initiale : 4 membres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557"/>
                </a:solidFill>
                <a:latin typeface="Segoe UI"/>
              </a:defRPr>
            </a:pPr>
            <a:r>
              <a:t>Steven (Analyste) — a quitté le groupe en cours de projet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200400" cy="22860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D6"/>
                </a:solidFill>
                <a:latin typeface="Segoe UI"/>
              </a:defRPr>
            </a:pPr>
            <a:r>
              <a:t>Romain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Chef de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Coordination, planification,</a:t>
            </a:r>
            <a:br/>
            <a:r>
              <a:t>suivi des livrables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200400" cy="22860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4DFF"/>
                </a:solidFill>
                <a:latin typeface="Segoe UI"/>
              </a:defRPr>
            </a:pPr>
            <a:r>
              <a:t>Maëlle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260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Lead Dev Back-end</a:t>
            </a:r>
            <a:br/>
            <a:r>
              <a:t>&amp; Maître des BDD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661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Architecture back-end,</a:t>
            </a:r>
            <a:br/>
            <a:r>
              <a:t>conception BDD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200400" cy="22860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A7"/>
                </a:solidFill>
                <a:latin typeface="Segoe UI"/>
              </a:defRPr>
            </a:pPr>
            <a:r>
              <a:t>Loris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Lead Dev Front-end</a:t>
            </a:r>
            <a:br/>
            <a:r>
              <a:t>&amp; Maître du reste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5661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Architecture front-end,</a:t>
            </a:r>
            <a:br/>
            <a:r>
              <a:t>intégrations, transverse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Challenges surmontés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✓ Absorption de la charge (-25%) sans décaler les livrables — synchros hebdomadaires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✓ Cohérence architecturale maintenue grâce à la traçabilité PF → ENF → AXE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✓ Revue croisée systématique de chaque livrable entre les 3 membres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2. Contexte &amp; objectifs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BricoLoc — Location d'outils de bricolage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• Application en production depuis 2013 — stack obsolète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• Perte de clients depuis 2020 (bugs, stocks incohérents)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• 10 entrepôts (Toulouse siège + 9 régionaux)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• Expansion européenne prévue (Bruxelles, Lausanne, Francfort)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• Nouveaux segments : location entre particuliers, B2B grands comptes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• Marque blanche pour partenaires hypermarchés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• Équipe DSI : 5 développeurs internes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Segoe UI"/>
              </a:defRPr>
            </a:pPr>
            <a:r>
              <a:t>Objectif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🎯 Concevoir l'architecture logicielle de BricoLoc 2.0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📋 Analyser l'existant et identifier les points faibles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⚖️ Comparer et justifier les choix architecturaux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🔧 Proposer les technologies adaptées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📐 Définir l'architecture logique cible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🗓️ Planifier la migration progressive (Strangler Fig)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Démarche de conception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9144000" cy="54864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3533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Segoe UI"/>
              </a:defRPr>
            </a:pPr>
            <a:r>
              <a:t>Étape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5331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Analyse de l'existant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993391"/>
            <a:ext cx="9144000" cy="54864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066543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Étape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66543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Exigences non fonctionnelles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706624"/>
            <a:ext cx="9144000" cy="54864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7797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Segoe UI"/>
              </a:defRPr>
            </a:pPr>
            <a:r>
              <a:t>Étape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7977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Points faibles &amp; axes d'amélioration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419856"/>
            <a:ext cx="9144000" cy="54864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493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  <a:latin typeface="Segoe UI"/>
              </a:defRPr>
            </a:pPr>
            <a:r>
              <a:t>Étape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4930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Comparaison des styles architecturaux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133087"/>
            <a:ext cx="9144000" cy="54864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2062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Étape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20623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Matrice de choix technologique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846320"/>
            <a:ext cx="9144000" cy="54864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9194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Étape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91947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Styles retenus &amp; justification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559552"/>
            <a:ext cx="9144000" cy="54864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563270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57"/>
                </a:solidFill>
                <a:latin typeface="Segoe UI"/>
              </a:defRPr>
            </a:pPr>
            <a:r>
              <a:t>Étape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63270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Architecture logique cible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BB"/>
                </a:solidFill>
                <a:latin typeface="Segoe UI"/>
              </a:defRPr>
            </a:pPr>
            <a:r>
              <a:t>Chaque étape alimente la suivante — les ENF traversent toute la démarche comme fil directeur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3. Analyse du SI existant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91840" cy="20116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Segoe UI"/>
              </a:defRPr>
            </a:pPr>
            <a:r>
              <a:t>Front-end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Tomcat 8.5 / Spring 5 — Ubuntu 20.04</a:t>
            </a:r>
            <a:br/>
            <a:r>
              <a:t>Logique métier migrée dans le front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291840" cy="20116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25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4DFF"/>
                </a:solidFill>
                <a:latin typeface="Segoe UI"/>
              </a:defRPr>
            </a:pPr>
            <a:r>
              <a:t>Back-end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WebLogic 12c R1 / Java EE 6</a:t>
            </a:r>
            <a:br/>
            <a:r>
              <a:t>Oracle Linux 6.5 (EOL)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88720"/>
            <a:ext cx="3291840" cy="20116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25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Segoe UI"/>
              </a:defRPr>
            </a:pPr>
            <a:r>
              <a:t>BDD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Oracle 11g R2 — Cluster 2 nœuds</a:t>
            </a:r>
            <a:br/>
            <a:r>
              <a:t>Tables &gt; 150 colonnes, PL/SQL métier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3291840" cy="20116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19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57"/>
                </a:solidFill>
                <a:latin typeface="Segoe UI"/>
              </a:defRPr>
            </a:pPr>
            <a:r>
              <a:t>Stocks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19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Batch CSV quotidien SAP → PL/SQL</a:t>
            </a:r>
            <a:br/>
            <a:r>
              <a:t>+ Client lourd C# → WCF VB.NET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749039"/>
            <a:ext cx="3291840" cy="20116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88619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Segoe UI"/>
              </a:defRPr>
            </a:pPr>
            <a:r>
              <a:t>Infra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389119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FTP sans Git · VM fantôme</a:t>
            </a:r>
            <a:br/>
            <a:r>
              <a:t>AD · Exchange · SAP B1 · Power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57"/>
                </a:solidFill>
                <a:latin typeface="Segoe UI"/>
              </a:defRPr>
            </a:pPr>
            <a:r>
              <a:t>⚠️ 9 anomalies architecturales majeures identifiées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4. Points faibles identifiés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058400" cy="475488"/>
          </a:xfrm>
          <a:prstGeom prst="roundRect">
            <a:avLst/>
          </a:prstGeom>
          <a:solidFill>
            <a:srgbClr val="301A1A"/>
          </a:solidFill>
          <a:ln w="127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57"/>
                </a:solidFill>
                <a:latin typeface="Segoe UI"/>
              </a:defRPr>
            </a:pPr>
            <a:r>
              <a:t>PF-01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234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Monolithe obsolète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234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4557"/>
                </a:solidFill>
                <a:latin typeface="Segoe UI"/>
              </a:defRPr>
            </a:pPr>
            <a:r>
              <a:t>🔴 Critique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55648"/>
            <a:ext cx="10058400" cy="475488"/>
          </a:xfrm>
          <a:prstGeom prst="roundRect">
            <a:avLst/>
          </a:prstGeom>
          <a:solidFill>
            <a:srgbClr val="301A1A"/>
          </a:solidFill>
          <a:ln w="127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013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57"/>
                </a:solidFill>
                <a:latin typeface="Segoe UI"/>
              </a:defRPr>
            </a:pPr>
            <a:r>
              <a:t>PF-02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013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Logique métier éparpillée (3 couches)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013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4557"/>
                </a:solidFill>
                <a:latin typeface="Segoe UI"/>
              </a:defRPr>
            </a:pPr>
            <a:r>
              <a:t>🔴 Critique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22576"/>
            <a:ext cx="10058400" cy="475488"/>
          </a:xfrm>
          <a:prstGeom prst="roundRect">
            <a:avLst/>
          </a:prstGeom>
          <a:solidFill>
            <a:srgbClr val="301A1A"/>
          </a:solidFill>
          <a:ln w="127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3682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57"/>
                </a:solidFill>
                <a:latin typeface="Segoe UI"/>
              </a:defRPr>
            </a:pPr>
            <a:r>
              <a:t>PF-03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6829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Stocks incohérents — perte de 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3682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4557"/>
                </a:solidFill>
                <a:latin typeface="Segoe UI"/>
              </a:defRPr>
            </a:pPr>
            <a:r>
              <a:t>🔴 Critique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889504"/>
            <a:ext cx="10058400" cy="475488"/>
          </a:xfrm>
          <a:prstGeom prst="roundRect">
            <a:avLst/>
          </a:prstGeom>
          <a:solidFill>
            <a:srgbClr val="301A1A"/>
          </a:solidFill>
          <a:ln w="127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9352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57"/>
                </a:solidFill>
                <a:latin typeface="Segoe UI"/>
              </a:defRPr>
            </a:pPr>
            <a:r>
              <a:t>PF-04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93522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WCF sans code source — SPOF absolu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93522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4557"/>
                </a:solidFill>
                <a:latin typeface="Segoe UI"/>
              </a:defRPr>
            </a:pPr>
            <a:r>
              <a:t>🔴 Critique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456432"/>
            <a:ext cx="10058400" cy="475488"/>
          </a:xfrm>
          <a:prstGeom prst="roundRect">
            <a:avLst/>
          </a:prstGeom>
          <a:solidFill>
            <a:srgbClr val="301A1A"/>
          </a:solidFill>
          <a:ln w="127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502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57"/>
                </a:solidFill>
                <a:latin typeface="Segoe UI"/>
              </a:defRPr>
            </a:pPr>
            <a:r>
              <a:t>PF-05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5021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Pas de gestion de configuration (FTP)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5021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4557"/>
                </a:solidFill>
                <a:latin typeface="Segoe UI"/>
              </a:defRPr>
            </a:pPr>
            <a:r>
              <a:t>🔴 Critique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023360"/>
            <a:ext cx="10058400" cy="475488"/>
          </a:xfrm>
          <a:prstGeom prst="roundRect">
            <a:avLst/>
          </a:prstGeom>
          <a:solidFill>
            <a:srgbClr val="30251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PF-06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069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BDD Oracle surdimensionnée &amp; coûteuse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069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Segoe UI"/>
              </a:defRPr>
            </a:pPr>
            <a:r>
              <a:t>🟠 Élevé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590288"/>
            <a:ext cx="10058400" cy="475488"/>
          </a:xfrm>
          <a:prstGeom prst="roundRect">
            <a:avLst/>
          </a:prstGeom>
          <a:solidFill>
            <a:srgbClr val="30251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636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PF-07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636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Sécurité insuffisante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6360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Segoe UI"/>
              </a:defRPr>
            </a:pPr>
            <a:r>
              <a:t>🟠 Élevé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157216"/>
            <a:ext cx="10058400" cy="475488"/>
          </a:xfrm>
          <a:prstGeom prst="roundRect">
            <a:avLst/>
          </a:prstGeom>
          <a:solidFill>
            <a:srgbClr val="30251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2029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PF-08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20293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Dette humaine &amp; organisationnelle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520293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Segoe UI"/>
              </a:defRPr>
            </a:pPr>
            <a:r>
              <a:t>🟠 Élevé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724144"/>
            <a:ext cx="10058400" cy="475488"/>
          </a:xfrm>
          <a:prstGeom prst="roundRect">
            <a:avLst/>
          </a:prstGeom>
          <a:solidFill>
            <a:srgbClr val="302E1A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7698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Segoe UI"/>
              </a:defRPr>
            </a:pPr>
            <a:r>
              <a:t>PF-09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57698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Marque blanche non compétitive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7698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D93D"/>
                </a:solidFill>
                <a:latin typeface="Segoe UI"/>
              </a:defRPr>
            </a:pPr>
            <a:r>
              <a:t>🟡 Modéré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5. Exigences Non Fonctionnelles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058400" cy="530352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618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57"/>
                </a:solidFill>
                <a:latin typeface="Segoe UI"/>
              </a:defRPr>
            </a:pPr>
            <a:r>
              <a:t>ENF-01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261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61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Catalogue &lt; 2s, APIs &lt; 500ms, pics x3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2618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D93D"/>
                </a:solidFill>
                <a:latin typeface="Segoe UI"/>
              </a:defRPr>
            </a:pPr>
            <a:r>
              <a:t>★★★★★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10058400" cy="530352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01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57"/>
                </a:solidFill>
                <a:latin typeface="Segoe UI"/>
              </a:defRPr>
            </a:pPr>
            <a:r>
              <a:t>ENF-02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Disponibilité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019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SLA ≥ 99,5%, RTO &lt; 4h, RPO &lt;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901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D93D"/>
                </a:solidFill>
                <a:latin typeface="Segoe UI"/>
              </a:defRPr>
            </a:pPr>
            <a:r>
              <a:t>★★★★★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468880"/>
            <a:ext cx="10058400" cy="530352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5420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Segoe UI"/>
              </a:defRPr>
            </a:pPr>
            <a:r>
              <a:t>ENF-03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542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Scalabilité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420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Scale-out, expansion EU, B2C/B2B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5420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D93D"/>
                </a:solidFill>
                <a:latin typeface="Segoe UI"/>
              </a:defRPr>
            </a:pPr>
            <a:r>
              <a:t>★★★★☆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108959"/>
            <a:ext cx="10058400" cy="530352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18211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57"/>
                </a:solidFill>
                <a:latin typeface="Segoe UI"/>
              </a:defRPr>
            </a:pPr>
            <a:r>
              <a:t>ENF-04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18211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Sécurité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18211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IAM centralisé, RGPD, PCI-DSS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18211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D93D"/>
                </a:solidFill>
                <a:latin typeface="Segoe UI"/>
              </a:defRPr>
            </a:pPr>
            <a:r>
              <a:t>★★★★★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749039"/>
            <a:ext cx="10058400" cy="530352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82219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57"/>
                </a:solidFill>
                <a:latin typeface="Segoe UI"/>
              </a:defRPr>
            </a:pPr>
            <a:r>
              <a:t>ENF-05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82219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Maintenabilité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8221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Tests ≥ 70%, zéro PL/SQL, OpenAPI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82219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D93D"/>
                </a:solidFill>
                <a:latin typeface="Segoe UI"/>
              </a:defRPr>
            </a:pPr>
            <a:r>
              <a:t>★★★★★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389120"/>
            <a:ext cx="10058400" cy="530352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4622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Segoe UI"/>
              </a:defRPr>
            </a:pPr>
            <a:r>
              <a:t>ENF-06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4622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Interopérabilité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4622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REST SAP, Stripe v3, Power BI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4622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D93D"/>
                </a:solidFill>
                <a:latin typeface="Segoe UI"/>
              </a:defRPr>
            </a:pPr>
            <a:r>
              <a:t>★★★★☆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029199"/>
            <a:ext cx="10058400" cy="530352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10235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Segoe UI"/>
              </a:defRPr>
            </a:pPr>
            <a:r>
              <a:t>ENF-07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510235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Portabilité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10235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Cloud-ready, Docker, CI/CD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10235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D93D"/>
                </a:solidFill>
                <a:latin typeface="Segoe UI"/>
              </a:defRPr>
            </a:pPr>
            <a:r>
              <a:t>★★★☆☆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669279"/>
            <a:ext cx="10058400" cy="530352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74243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Segoe UI"/>
              </a:defRPr>
            </a:pPr>
            <a:r>
              <a:t>ENF-08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74243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Observabilité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74243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Logs centralisés, alertes auto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574243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D93D"/>
                </a:solidFill>
                <a:latin typeface="Segoe UI"/>
              </a:defRPr>
            </a:pPr>
            <a:r>
              <a:t>★★★☆☆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6. Axes d'amélioration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291840" cy="18288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9A7"/>
                </a:solidFill>
                <a:latin typeface="Segoe UI"/>
              </a:defRPr>
            </a:pPr>
            <a:r>
              <a:t>AXE-01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Refonte architecture modulaire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→ PF-01, PF-02, PF-03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291840" cy="18288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Segoe UI"/>
              </a:defRPr>
            </a:pPr>
            <a:r>
              <a:t>AXE-02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Stocks temps réel (événementiel SAP)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→ PF-03, PF-04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291840" cy="18288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17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Segoe UI"/>
              </a:defRPr>
            </a:pPr>
            <a:r>
              <a:t>AXE-03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Git + 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→ PF-05, PF-08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3291840" cy="18288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4DFF"/>
                </a:solidFill>
                <a:latin typeface="Segoe UI"/>
              </a:defRPr>
            </a:pPr>
            <a:r>
              <a:t>AXE-04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Migration cloud &amp; rationalisation coûts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→ PF-01, PF-06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657600"/>
            <a:ext cx="3291840" cy="18288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794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B35"/>
                </a:solidFill>
                <a:latin typeface="Segoe UI"/>
              </a:defRPr>
            </a:pPr>
            <a:r>
              <a:t>AXE-05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97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Sécurité &amp; conformité RGPD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→ PF-07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657600"/>
            <a:ext cx="3291840" cy="18288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794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93D"/>
                </a:solidFill>
                <a:latin typeface="Segoe UI"/>
              </a:defRPr>
            </a:pPr>
            <a:r>
              <a:t>AXE-06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297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Marque blanche SaaS multi-tenant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  <a:latin typeface="Segoe UI"/>
              </a:defRPr>
            </a:pPr>
            <a:r>
              <a:t>→ PF-09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7. Comparaison des styles architecturaux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058400" cy="502920"/>
          </a:xfrm>
          <a:prstGeom prst="roundRect">
            <a:avLst/>
          </a:prstGeom>
          <a:solidFill>
            <a:srgbClr val="252545"/>
          </a:solidFill>
          <a:ln w="1270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Verdict BricoLoc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83080"/>
            <a:ext cx="10058400" cy="502920"/>
          </a:xfrm>
          <a:prstGeom prst="roundRect">
            <a:avLst/>
          </a:prstGeom>
          <a:solidFill>
            <a:srgbClr val="1E2E1E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562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Monolithe modulaire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562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C9A7"/>
                </a:solidFill>
                <a:latin typeface="Segoe UI"/>
              </a:defRPr>
            </a:pPr>
            <a:r>
              <a:t>40/55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562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A7"/>
                </a:solidFill>
                <a:latin typeface="Segoe UI"/>
              </a:defRPr>
            </a:pPr>
            <a:r>
              <a:t>✅ Retenu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77440"/>
            <a:ext cx="10058400" cy="502920"/>
          </a:xfrm>
          <a:prstGeom prst="roundRect">
            <a:avLst/>
          </a:prstGeom>
          <a:solidFill>
            <a:srgbClr val="1E2E1E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50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Événementiel ciblé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50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C9A7"/>
                </a:solidFill>
                <a:latin typeface="Segoe UI"/>
              </a:defRPr>
            </a:pPr>
            <a:r>
              <a:t>40/55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505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A7"/>
                </a:solidFill>
                <a:latin typeface="Segoe UI"/>
              </a:defRPr>
            </a:pPr>
            <a:r>
              <a:t>✅ Retenu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971800"/>
            <a:ext cx="10058400" cy="502920"/>
          </a:xfrm>
          <a:prstGeom prst="roundRect">
            <a:avLst/>
          </a:prstGeom>
          <a:solidFill>
            <a:srgbClr val="2E1E1E"/>
          </a:solidFill>
          <a:ln w="127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044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Microservices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44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4557"/>
                </a:solidFill>
                <a:latin typeface="Segoe UI"/>
              </a:defRPr>
            </a:pPr>
            <a:r>
              <a:t>39/55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449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557"/>
                </a:solidFill>
                <a:latin typeface="Segoe UI"/>
              </a:defRPr>
            </a:pPr>
            <a:r>
              <a:t>❌ Trop complexe pour 5 devs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566160"/>
            <a:ext cx="10058400" cy="502920"/>
          </a:xfrm>
          <a:prstGeom prst="roundRect">
            <a:avLst/>
          </a:prstGeom>
          <a:solidFill>
            <a:srgbClr val="2E1E1E"/>
          </a:solidFill>
          <a:ln w="127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6393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SOA / ESB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639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4557"/>
                </a:solidFill>
                <a:latin typeface="Segoe UI"/>
              </a:defRPr>
            </a:pPr>
            <a:r>
              <a:t>33/55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393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557"/>
                </a:solidFill>
                <a:latin typeface="Segoe UI"/>
              </a:defRPr>
            </a:pPr>
            <a:r>
              <a:t>❌ ESB disproportionné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160520"/>
            <a:ext cx="10058400" cy="502920"/>
          </a:xfrm>
          <a:prstGeom prst="roundRect">
            <a:avLst/>
          </a:prstGeom>
          <a:solidFill>
            <a:srgbClr val="2E1E1E"/>
          </a:solidFill>
          <a:ln w="127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33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N-tiers (actuel)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33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4557"/>
                </a:solidFill>
                <a:latin typeface="Segoe UI"/>
              </a:defRPr>
            </a:pPr>
            <a:r>
              <a:t>23/55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336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557"/>
                </a:solidFill>
                <a:latin typeface="Segoe UI"/>
              </a:defRPr>
            </a:pPr>
            <a:r>
              <a:t>❌ Source des problèmes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9A7"/>
                </a:solidFill>
                <a:latin typeface="Segoe UI"/>
              </a:defRPr>
            </a:pPr>
            <a:r>
              <a:t>Recommandation : architecture hybride</a:t>
            </a:r>
            <a:br/>
            <a:r>
              <a:t>Monolithe modulaire + Événementiel ciblé + APIs REST (SOA légère sans ESB)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8. Styles retenus &amp; justification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91840" cy="347472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4DFF"/>
                </a:solidFill>
                <a:latin typeface="Segoe UI"/>
              </a:defRPr>
            </a:pPr>
            <a:r>
              <a:t>Monolithe modulaire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93D"/>
                </a:solidFill>
                <a:latin typeface="Segoe UI"/>
              </a:defRPr>
            </a:pPr>
            <a:r>
              <a:t>Core applicatif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1 JAR, 9 modules Maven isolés</a:t>
            </a:r>
            <a:br/>
            <a:r>
              <a:t>Faisable par 5 devs, ACID natif</a:t>
            </a:r>
            <a:br/>
            <a:r>
              <a:t>Strangler Fig compatible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291840" cy="347472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25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B35"/>
                </a:solidFill>
                <a:latin typeface="Segoe UI"/>
              </a:defRPr>
            </a:pPr>
            <a:r>
              <a:t>Événementiel ciblé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93D"/>
                </a:solidFill>
                <a:latin typeface="Segoe UI"/>
              </a:defRPr>
            </a:pPr>
            <a:r>
              <a:t>Stocks &amp; notifications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RabbitMQ sur flux asynchrones</a:t>
            </a:r>
            <a:br/>
            <a:r>
              <a:t>Remplace batch CSV quotidien</a:t>
            </a:r>
            <a:br/>
            <a:r>
              <a:t>Isole les pannes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291840" cy="347472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25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Segoe UI"/>
              </a:defRPr>
            </a:pPr>
            <a:r>
              <a:t>APIs 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93D"/>
                </a:solidFill>
                <a:latin typeface="Segoe UI"/>
              </a:defRPr>
            </a:pPr>
            <a:r>
              <a:t>Intégrations &amp; marque blanche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Contrats OpenAPI versionnés</a:t>
            </a:r>
            <a:br/>
            <a:r>
              <a:t>SOA légère sans ESB</a:t>
            </a:r>
            <a:br/>
            <a:r>
              <a:t>Partenaires en self-service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57"/>
                </a:solidFill>
                <a:latin typeface="Segoe UI"/>
              </a:defRPr>
            </a:pPr>
            <a:r>
              <a:t>Styles écartés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Microservices purs (complexité DevOps)  ·  SOA/ESB (disproportionné PME)  ·  N-tiers reconduit (source des problèmes)  ·  Serverless (incompatible état persistant)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9. Choix technologiques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22860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Framework back-end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A7"/>
                </a:solidFill>
                <a:latin typeface="Segoe UI"/>
              </a:defRPr>
            </a:pPr>
            <a:r>
              <a:t>Spring Boot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93D"/>
                </a:solidFill>
                <a:latin typeface="Segoe UI"/>
              </a:defRPr>
            </a:pPr>
            <a:r>
              <a:t>4,90/5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Compétences équipe</a:t>
            </a:r>
            <a:br/>
            <a:r>
              <a:t>Migration incrémentale Spring 5</a:t>
            </a:r>
            <a:br/>
            <a:r>
              <a:t>Open-source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22860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SGBDR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Segoe UI"/>
              </a:defRPr>
            </a:pPr>
            <a:r>
              <a:t>PostgreSQL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93D"/>
                </a:solidFill>
                <a:latin typeface="Segoe UI"/>
              </a:defRPr>
            </a:pPr>
            <a:r>
              <a:t>4,60/5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Open-source, cloud-natif</a:t>
            </a:r>
            <a:br/>
            <a:r>
              <a:t>Élimine surcoût Oracle</a:t>
            </a:r>
            <a:br/>
            <a:r>
              <a:t>PL/pgSQL compatible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303520" cy="22860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Bus de messages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Segoe UI"/>
              </a:defRPr>
            </a:pPr>
            <a:r>
              <a:t>RabbitMQ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93D"/>
                </a:solidFill>
                <a:latin typeface="Segoe UI"/>
              </a:defRPr>
            </a:pPr>
            <a:r>
              <a:t>4,55/5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Simple pour 5 devs</a:t>
            </a:r>
            <a:br/>
            <a:r>
              <a:t>Compatible Spring AMQP</a:t>
            </a:r>
            <a:br/>
            <a:r>
              <a:t>Adapté aux volumes BricoLoc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303520" cy="22860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Segoe UI"/>
              </a:defRPr>
            </a:pPr>
            <a:r>
              <a:t>Microsoft Azure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93D"/>
                </a:solidFill>
                <a:latin typeface="Segoe UI"/>
              </a:defRPr>
            </a:pPr>
            <a:r>
              <a:t>4,75/5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37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Continuité écosystème MS</a:t>
            </a:r>
            <a:br/>
            <a:r>
              <a:t>Azure AD, Power BI, Office 365</a:t>
            </a:r>
            <a:br/>
            <a:r>
              <a:t>Support PostgreSQL managé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10. Architecture logique — Vue d'ensemble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188720"/>
            <a:ext cx="8229600" cy="868680"/>
          </a:xfrm>
          <a:prstGeom prst="roundRect">
            <a:avLst/>
          </a:prstGeom>
          <a:solidFill>
            <a:srgbClr val="1A3A5C"/>
          </a:solidFill>
          <a:ln w="2540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12618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Segoe UI"/>
              </a:defRPr>
            </a:pPr>
            <a:r>
              <a:t>🌐  Couche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6276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Web · Mobile · Partenaires · Salariés 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B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240280"/>
            <a:ext cx="8229600" cy="868680"/>
          </a:xfrm>
          <a:prstGeom prst="roundRect">
            <a:avLst/>
          </a:prstGeom>
          <a:solidFill>
            <a:srgbClr val="1A3C3A"/>
          </a:solidFill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3134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Segoe UI"/>
              </a:defRPr>
            </a:pPr>
            <a:r>
              <a:t>🔒  API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6791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Spring Cloud Gateway — JWT · Rate Limit · TLS · Routage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063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B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291839"/>
            <a:ext cx="8229600" cy="868680"/>
          </a:xfrm>
          <a:prstGeom prst="roundRect">
            <a:avLst/>
          </a:prstGeom>
          <a:solidFill>
            <a:srgbClr val="2A1A4A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3364991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4DFF"/>
                </a:solidFill>
                <a:latin typeface="Segoe UI"/>
              </a:defRPr>
            </a:pPr>
            <a:r>
              <a:t>⚙️  Monolithe Modulaire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730751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Spring Boot 3 / Java 21 — 9 modules métier isolés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114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B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343400"/>
            <a:ext cx="8229600" cy="868680"/>
          </a:xfrm>
          <a:prstGeom prst="roundRect">
            <a:avLst/>
          </a:prstGeom>
          <a:solidFill>
            <a:srgbClr val="3A2A1A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44165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Segoe UI"/>
              </a:defRPr>
            </a:pPr>
            <a:r>
              <a:t>📨  Bus Événementiel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7823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RabbitMQ — StockUpdated · ReservationCreated · PaymentValidated · PriceUpdated · StockLow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166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B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394959"/>
            <a:ext cx="8229600" cy="868680"/>
          </a:xfrm>
          <a:prstGeom prst="roundRect">
            <a:avLst/>
          </a:prstGeom>
          <a:solidFill>
            <a:srgbClr val="1A3A1A"/>
          </a:solidFill>
          <a:ln w="254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5468111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Segoe UI"/>
              </a:defRPr>
            </a:pPr>
            <a:r>
              <a:t>💾  Couche Données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833871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PostgreSQL 16 · Redis · Azure Blob Storage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2286000"/>
            <a:ext cx="1371600" cy="3200400"/>
          </a:xfrm>
          <a:prstGeom prst="roundRect">
            <a:avLst/>
          </a:prstGeom>
          <a:solidFill>
            <a:srgbClr val="3A1A2A"/>
          </a:solidFill>
          <a:ln w="254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377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557"/>
                </a:solidFill>
                <a:latin typeface="Segoe UI"/>
              </a:defRPr>
            </a:pPr>
            <a:r>
              <a:t>🌍 Tiers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2926080"/>
            <a:ext cx="1280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SAP</a:t>
            </a:r>
            <a:br/>
            <a:r>
              <a:t>Stripe</a:t>
            </a:r>
            <a:br/>
            <a:r>
              <a:t>Comp. Prix</a:t>
            </a:r>
            <a:br/>
            <a:r>
              <a:t>Power BI</a:t>
            </a:r>
            <a:br/>
            <a:r>
              <a:t>SMTP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10b. Les 9 modules applicatifs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15544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Segoe UI"/>
              </a:defRPr>
            </a:pPr>
            <a:r>
              <a:t>📦 Catalogue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Outils, catégories</a:t>
            </a:r>
            <a:br/>
            <a:r>
              <a:t>Recherche, prix</a:t>
            </a:r>
            <a:br/>
            <a:r>
              <a:t>Cache Redis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474720" cy="15544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280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📅 Réservation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Cycle de vie location</a:t>
            </a:r>
            <a:br/>
            <a:r>
              <a:t>Calendrier, P2P</a:t>
            </a:r>
            <a:br/>
            <a:r>
              <a:t>Annulation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474720" cy="15544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280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Segoe UI"/>
              </a:defRPr>
            </a:pPr>
            <a:r>
              <a:t>📊 Stocks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691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Source de vérité</a:t>
            </a:r>
            <a:br/>
            <a:r>
              <a:t>Temps réel SAP</a:t>
            </a:r>
            <a:br/>
            <a:r>
              <a:t>Inter-entrepôts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3474720" cy="15544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57"/>
                </a:solidFill>
                <a:latin typeface="Segoe UI"/>
              </a:defRPr>
            </a:pPr>
            <a:r>
              <a:t>💳 Paiement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20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Stripe v3, PCI-DSS</a:t>
            </a:r>
            <a:br/>
            <a:r>
              <a:t>Transactions</a:t>
            </a:r>
            <a:br/>
            <a:r>
              <a:t>Remboursements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017520"/>
            <a:ext cx="3474720" cy="15544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  <a:latin typeface="Segoe UI"/>
              </a:defRPr>
            </a:pPr>
            <a:r>
              <a:t>👥 Utilisateurs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20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Auth JWT, RBAC</a:t>
            </a:r>
            <a:br/>
            <a:r>
              <a:t>5 rôles métier</a:t>
            </a:r>
            <a:br/>
            <a:r>
              <a:t>RGPD, Azure 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017520"/>
            <a:ext cx="3474720" cy="15544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🔔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520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Emails transac.</a:t>
            </a:r>
            <a:br/>
            <a:r>
              <a:t>Alertes logisticiens</a:t>
            </a:r>
            <a:br/>
            <a:r>
              <a:t>Chat, Push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3474720" cy="15544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37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🛠️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Back-office</a:t>
            </a:r>
            <a:br/>
            <a:r>
              <a:t>Gestion catalogue</a:t>
            </a:r>
            <a:br/>
            <a:r>
              <a:t>Gestion partenaires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846320"/>
            <a:ext cx="3474720" cy="15544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80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937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0AB"/>
                </a:solidFill>
                <a:latin typeface="Segoe UI"/>
              </a:defRPr>
            </a:pPr>
            <a:r>
              <a:t>🏷️ Marque Blanche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349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Multi-tenant</a:t>
            </a:r>
            <a:br/>
            <a:r>
              <a:t>Isolation données</a:t>
            </a:r>
            <a:br/>
            <a:r>
              <a:t>APIs partenaire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846320"/>
            <a:ext cx="3474720" cy="155448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82B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937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2B1FF"/>
                </a:solidFill>
                <a:latin typeface="Segoe UI"/>
              </a:defRPr>
            </a:pPr>
            <a:r>
              <a:t>🔗 Intégration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5349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Passerelle unique</a:t>
            </a:r>
            <a:br/>
            <a:r>
              <a:t>SAP, Prix, Power BI</a:t>
            </a:r>
            <a:br/>
            <a:r>
              <a:t>Spring Batch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11. Stratégie de migration — Strangler Fig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417320" cy="41148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D6"/>
                </a:solidFill>
                <a:latin typeface="Segoe UI"/>
              </a:defRPr>
            </a:pPr>
            <a:r>
              <a:t>Phase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93D"/>
                </a:solidFill>
                <a:latin typeface="Segoe UI"/>
              </a:defRPr>
            </a:pPr>
            <a:r>
              <a:t>2-3 mois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1325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Fondations Git, CI/CD, PostgreSQL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371600"/>
            <a:ext cx="1417320" cy="41148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4630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9202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93D"/>
                </a:solidFill>
                <a:latin typeface="Segoe UI"/>
              </a:defRPr>
            </a:pPr>
            <a:r>
              <a:t>3-4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377440"/>
            <a:ext cx="1325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Module Stocks + RabbitMQ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371600"/>
            <a:ext cx="1417320" cy="41148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4630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93D"/>
                </a:solidFill>
                <a:latin typeface="Segoe UI"/>
              </a:defRPr>
            </a:pPr>
            <a:r>
              <a:t>2-3 mois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377440"/>
            <a:ext cx="1325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Utilisateurs &amp; Authentification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371600"/>
            <a:ext cx="1417320" cy="41148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4630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4DFF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9202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93D"/>
                </a:solidFill>
                <a:latin typeface="Segoe UI"/>
              </a:defRPr>
            </a:pPr>
            <a:r>
              <a:t>4-6 mois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377440"/>
            <a:ext cx="1325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Catalogue &amp; Réservation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371600"/>
            <a:ext cx="1417320" cy="41148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14630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9202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93D"/>
                </a:solidFill>
                <a:latin typeface="Segoe UI"/>
              </a:defRPr>
            </a:pPr>
            <a:r>
              <a:t>2-3 mois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377440"/>
            <a:ext cx="1325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Paiement &amp; Notifications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1371600"/>
            <a:ext cx="1417320" cy="41148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14630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93D"/>
                </a:solidFill>
                <a:latin typeface="Segoe UI"/>
              </a:defRPr>
            </a:pPr>
            <a:r>
              <a:t>Phase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19202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93D"/>
                </a:solidFill>
                <a:latin typeface="Segoe UI"/>
              </a:defRPr>
            </a:pPr>
            <a:r>
              <a:t>3-4 mois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377440"/>
            <a:ext cx="1325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Marque blanche &amp; i18n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1371600"/>
            <a:ext cx="1417320" cy="41148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4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14630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557"/>
                </a:solidFill>
                <a:latin typeface="Segoe UI"/>
              </a:defRPr>
            </a:pPr>
            <a:r>
              <a:t>Phase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19202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93D"/>
                </a:solidFill>
                <a:latin typeface="Segoe UI"/>
              </a:defRPr>
            </a:pPr>
            <a:r>
              <a:t>1-2 mois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2377440"/>
            <a:ext cx="1325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Extinction WCF &amp; Legacy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760720"/>
            <a:ext cx="11247120" cy="54864"/>
          </a:xfrm>
          <a:prstGeom prst="round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C9A7"/>
                </a:solidFill>
                <a:latin typeface="Segoe UI"/>
              </a:defRPr>
            </a:pPr>
            <a:r>
              <a:t>Migration progressive — coexistence ancien / nouveau système — aucun Big Bang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Règles d'architecture (garde-fous)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0584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R01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2801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Aucun module ne peut accéder directement aux tables d'un autre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47088"/>
            <a:ext cx="100584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385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R02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3852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Zéro logique métier dans les couches de persistance (pas de triggers/PL/SQL)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05456"/>
            <a:ext cx="100584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9689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R03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596896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Toute communication avec un système tiers passe par le module Intégration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63824"/>
            <a:ext cx="100584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5526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R04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25526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Toute requête externe passe par l'API Gateway avec un token JWT valide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22191"/>
            <a:ext cx="100584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91363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R05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913631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Aucune donnée de carte bancaire ne transite côté BricoLoc (tout chez Stripe)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480559"/>
            <a:ext cx="100584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57199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R06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571999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Chaque module possède son propre schéma de BDD logique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138928"/>
            <a:ext cx="100584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2303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R07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2303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Chaque événement publié sur RabbitMQ est versionné (v1.StockUpdated)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797296"/>
            <a:ext cx="100584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88873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Segoe UI"/>
              </a:defRPr>
            </a:pPr>
            <a:r>
              <a:t>R08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888736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Tout code est committé sur Git — aucun déploiement manuel FTP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Répartition équipe développeurs BricoLoc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36576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03120" cy="32004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D6"/>
                </a:solidFill>
                <a:latin typeface="Segoe UI"/>
              </a:defRPr>
            </a:pPr>
            <a:r>
              <a:t>Marion 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93D"/>
                </a:solidFill>
                <a:latin typeface="Segoe UI"/>
              </a:defRPr>
            </a:pPr>
            <a:r>
              <a:t>Java back-end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reservation · stocks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2103120" cy="32004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Segoe UI"/>
              </a:defRPr>
            </a:pPr>
            <a:r>
              <a:t>Piotr 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93D"/>
                </a:solidFill>
                <a:latin typeface="Segoe UI"/>
              </a:defRPr>
            </a:pPr>
            <a:r>
              <a:t>Java full-stack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7432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catalogue · 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371600"/>
            <a:ext cx="2103120" cy="32004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4DFF"/>
                </a:solidFill>
                <a:latin typeface="Segoe UI"/>
              </a:defRPr>
            </a:pPr>
            <a:r>
              <a:t>Thibaut 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93D"/>
                </a:solidFill>
                <a:latin typeface="Segoe UI"/>
              </a:defRPr>
            </a:pPr>
            <a:r>
              <a:t>Java back-end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7432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utilisateurs · marque-blanche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371600"/>
            <a:ext cx="2103120" cy="32004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Segoe UI"/>
              </a:defRPr>
            </a:pPr>
            <a:r>
              <a:t>Hervé 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93D"/>
                </a:solidFill>
                <a:latin typeface="Segoe UI"/>
              </a:defRPr>
            </a:pPr>
            <a:r>
              <a:t>.NET / Java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7432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paiement · intégration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371600"/>
            <a:ext cx="2103120" cy="32004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9A7"/>
                </a:solidFill>
                <a:latin typeface="Segoe UI"/>
              </a:defRPr>
            </a:pPr>
            <a:r>
              <a:t>Isabelle 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93D"/>
                </a:solidFill>
                <a:latin typeface="Segoe UI"/>
              </a:defRPr>
            </a:pPr>
            <a:r>
              <a:t>Python /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7432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analytics · Power BI ·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Chaque développeur possède un périmètre clair → limite les conflits Git, distribue la complexité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926080"/>
            <a:ext cx="12191695" cy="73152"/>
          </a:xfrm>
          <a:prstGeom prst="round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C9A7"/>
                </a:solidFill>
                <a:latin typeface="Segoe UI"/>
              </a:defRPr>
            </a:pPr>
            <a:r>
              <a:t>12. Conclusion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✅  Architecture hybride adaptée : monolithe modulaire + événementiel + REST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✅  Stack maîtrisée par l'équipe : Spring Boot 3, PostgreSQL 16, RabbitMQ, Azure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✅  Migration progressive Strangler Fig : 7 phases, zéro Big Bang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✅  Tous les points faibles adressés (PF-01 → PF-09)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✅  8 règles d'architecture pour éviter les dérives du SI actuel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D6"/>
                </a:solidFill>
                <a:latin typeface="Segoe UI"/>
              </a:defRPr>
            </a:pPr>
            <a:r>
              <a:t>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📈 Expansion européenne (Phase 5) — i18n et multi-entrepôts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🔄 Extraction future en microservices si l'équipe grandit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📱 Application mobile native (post-migration)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108960"/>
            <a:ext cx="12191695" cy="73152"/>
          </a:xfrm>
          <a:prstGeom prst="round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Merci pour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7C4DFF"/>
                </a:solidFill>
                <a:latin typeface="Segoe UI"/>
              </a:defRPr>
            </a:pPr>
            <a: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BB"/>
                </a:solidFill>
                <a:latin typeface="Segoe UI"/>
              </a:defRPr>
            </a:pPr>
            <a:r>
              <a:t>Romain  ·  Maëlle  ·  Loris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B"/>
                </a:solidFill>
                <a:latin typeface="Segoe UI"/>
              </a:defRPr>
            </a:pPr>
            <a:r>
              <a:t>Master 1 Architecte d'Application — CESI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