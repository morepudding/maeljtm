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926080"/>
            <a:ext cx="12191695" cy="73152"/>
          </a:xfrm>
          <a:prstGeom prst="round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BricoLoc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D6"/>
                </a:solidFill>
                <a:latin typeface="Segoe UI"/>
              </a:defRPr>
            </a:pPr>
            <a:r>
              <a:t>Architecture logicielle — Dossier de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BB"/>
                </a:solidFill>
                <a:latin typeface="Segoe UI"/>
              </a:defRPr>
            </a:pPr>
            <a:r>
              <a:t>Master 1 Architecte d'Application — CESI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Romain  ·  Maëlle  ·  Loris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Sommaire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1.  Organisation du groupe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2.  Contexte &amp; objectifs du projet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3.  Analyse du SI existant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4.  Points faibles identifiés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5.  Exigences non fonctionnelles (ENF)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6.  Axes d'amélioration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7.   Comparaison des styles architecturaux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8.   Styles retenus &amp; justification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9.   Choix technologiques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10.  Architecture logique cible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11.  Stratégie de migration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12.  Conclusion &amp;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1. Organisation du groupe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93D"/>
                </a:solidFill>
                <a:latin typeface="Segoe UI"/>
              </a:defRPr>
            </a:pPr>
            <a:r>
              <a:t>Équipe initiale : 4 membres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4557"/>
                </a:solidFill>
                <a:latin typeface="Segoe UI"/>
              </a:defRPr>
            </a:pPr>
            <a:r>
              <a:t>Steven (Analyste) — a quitté le groupe en cours de projet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00400" cy="14630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D6"/>
                </a:solidFill>
                <a:latin typeface="Segoe UI"/>
              </a:defRPr>
            </a:pPr>
            <a:r>
              <a:t>Romain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Chef de projet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Coordination, planification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200400" cy="14630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C4DFF"/>
                </a:solidFill>
                <a:latin typeface="Segoe UI"/>
              </a:defRPr>
            </a:pPr>
            <a:r>
              <a:t>Maëlle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Lead Back-end &amp; BDD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Architecture back-end, BDD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200400" cy="14630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9A7"/>
                </a:solidFill>
                <a:latin typeface="Segoe UI"/>
              </a:defRPr>
            </a:pPr>
            <a:r>
              <a:t>Loris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Lead Front-end &amp; reste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Front-end, intégrations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Segoe UI"/>
              </a:defRPr>
            </a:pPr>
            <a:r>
              <a:t>✅ Points forts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947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✓ Absorption de la charge (-25%) sans retard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✓ Cohérence architecturale (traçabilité PF → ENF → AXE)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✓ Revue croisée systématique de chaque livrable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B35"/>
                </a:solidFill>
                <a:latin typeface="Segoe UI"/>
              </a:defRPr>
            </a:pPr>
            <a:r>
              <a:t>📈 Axes d'amélioration du groupe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947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△ Anticiper les risques de départ d'un membre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   (planifier un bus factor ≥ 2 dès le départ)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△ Documenter les décisions d'architecture plus tôt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   (ADR dès la phase de cadrage, pas en rédaction)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△ Renforcer les compétences DevOps dans l'équipe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   (formation CI/CD, conteneurisation, IaC)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△ Formaliser les cérémonies de revue pour pérenniser</a:t>
            </a:r>
          </a:p>
          <a:p>
            <a:pPr>
              <a:spcAft>
                <a:spcPts val="600"/>
              </a:spcAft>
              <a:defRPr sz="1200">
                <a:solidFill>
                  <a:srgbClr val="CCCCCC"/>
                </a:solidFill>
                <a:latin typeface="Segoe UI"/>
              </a:defRPr>
            </a:pPr>
            <a:r>
              <a:t>   (processus écrit, pas uniquement oral)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2. Contexte &amp; objectifs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BricoLoc — Location d'outils de bricolage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• Application en production depuis 2013 — stack obsolète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• Perte de clients depuis 2020 (bugs, stocks incohérents)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• 10 entrepôts (Toulouse siège + 9 régionaux)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• Expansion européenne prévue (Bruxelles, Lausanne, Francfort)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• Nouveaux segments : location P2P, B2B grands comptes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• Marque blanche pour partenaires hypermarchés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• Équipe DSI : 5 développeurs internes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Segoe UI"/>
              </a:defRPr>
            </a:pPr>
            <a:r>
              <a:t>Objectif du projet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🎯 Concevoir l'architecture logicielle de BricoLoc 2.0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📋 Analyser l'existant et identifier les points faibles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⚖️ Comparer et justifier les choix architecturaux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🔧 Proposer les technologies adaptées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📐 Définir l'architecture logique cible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🗓️ Planifier la migration progressive (Strangler Fig)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Démarche de conception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9144000" cy="5486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353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Segoe UI"/>
              </a:defRPr>
            </a:pPr>
            <a:r>
              <a:t>Étape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353312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Analyse de l'existant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993391"/>
            <a:ext cx="9144000" cy="5486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066543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Segoe UI"/>
              </a:defRPr>
            </a:pPr>
            <a:r>
              <a:t>Étape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66543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Exigences non fonctionnelles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706624"/>
            <a:ext cx="9144000" cy="5486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277977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Segoe UI"/>
              </a:defRPr>
            </a:pPr>
            <a:r>
              <a:t>Étape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779776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Points faibles &amp; axes d'amélioration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419856"/>
            <a:ext cx="9144000" cy="5486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49300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4DFF"/>
                </a:solidFill>
                <a:latin typeface="Segoe UI"/>
              </a:defRPr>
            </a:pPr>
            <a:r>
              <a:t>Étape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4930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Comparaison des styles architecturaux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133087"/>
            <a:ext cx="9144000" cy="5486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420623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93D"/>
                </a:solidFill>
                <a:latin typeface="Segoe UI"/>
              </a:defRPr>
            </a:pPr>
            <a:r>
              <a:t>Étape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206239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Matrice de choix technologique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846320"/>
            <a:ext cx="9144000" cy="5486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9194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Segoe UI"/>
              </a:defRPr>
            </a:pPr>
            <a:r>
              <a:t>Étape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919472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Styles retenus &amp; justification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5559552"/>
            <a:ext cx="9144000" cy="5486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563270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557"/>
                </a:solidFill>
                <a:latin typeface="Segoe UI"/>
              </a:defRPr>
            </a:pPr>
            <a:r>
              <a:t>Étape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32704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Architecture logique cible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Segoe UI"/>
              </a:defRPr>
            </a:pPr>
            <a:r>
              <a:t>Chaque étape alimente la suivante — les ENF traversent toute la démarche comme fil directeur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3. Schéma du SI existant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926080" cy="13716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Segoe UI"/>
              </a:defRPr>
            </a:pPr>
            <a:r>
              <a:t>🖥️ Front-end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Tomcat 8.5 / Spring 5</a:t>
            </a:r>
            <a:br/>
            <a:r>
              <a:t>Apache (reverse proxy)</a:t>
            </a:r>
            <a:br/>
            <a:r>
              <a:t>Logique métier migrée ici ⚠️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188720"/>
            <a:ext cx="2926080" cy="13716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4DFF"/>
                </a:solidFill>
                <a:latin typeface="Segoe UI"/>
              </a:defRPr>
            </a:pPr>
            <a:r>
              <a:t>⚙️ Back-end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00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WebLogic 12c R1 / Java EE 6</a:t>
            </a:r>
            <a:br/>
            <a:r>
              <a:t>Oracle Linux 6.5 (EOL)</a:t>
            </a:r>
            <a:br/>
            <a:r>
              <a:t>EJB / JPA legacy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383280"/>
            <a:ext cx="3657600" cy="13716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429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🗄️ Oracle 11g R2 (Cluster 2 nœuds)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7947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bricolocDB · autorisationDB · prixDB</a:t>
            </a:r>
            <a:br/>
            <a:r>
              <a:t>Tables &gt; 150 colonnes, PL/SQL métier</a:t>
            </a:r>
            <a:br/>
            <a:r>
              <a:t>Coût licences élevé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188720"/>
            <a:ext cx="3200400" cy="13716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234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557"/>
                </a:solidFill>
                <a:latin typeface="Segoe UI"/>
              </a:defRPr>
            </a:pPr>
            <a:r>
              <a:t>📦 Stocks &amp; SAP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160020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SAP B1 9.X → CSV quotidien</a:t>
            </a:r>
            <a:br/>
            <a:r>
              <a:t>Batch Java → PL/SQL</a:t>
            </a:r>
            <a:br/>
            <a:r>
              <a:t>WCF VB.NET (code perdu!) ☠️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3383280"/>
            <a:ext cx="3200400" cy="13716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3429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Segoe UI"/>
              </a:defRPr>
            </a:pPr>
            <a:r>
              <a:t>🏗️ Infra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7947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FTP (pas de Git!) · VM fantôme</a:t>
            </a:r>
            <a:br/>
            <a:r>
              <a:t>Active Directory · Exchange</a:t>
            </a:r>
            <a:br/>
            <a:r>
              <a:t>Partages fichiers + CSV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383280" y="1691640"/>
            <a:ext cx="1097280" cy="274320"/>
          </a:xfrm>
          <a:prstGeom prst="rightArrow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1417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96D6"/>
                </a:solidFill>
                <a:latin typeface="Segoe UI"/>
              </a:defRPr>
            </a:pPr>
            <a:r>
              <a:t>SOAP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645920" y="2606040"/>
            <a:ext cx="320040" cy="731520"/>
          </a:xfrm>
          <a:prstGeom prst="downArrow">
            <a:avLst/>
          </a:prstGeom>
          <a:solidFill>
            <a:srgbClr val="FF4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4557"/>
                </a:solidFill>
                <a:latin typeface="Segoe UI"/>
              </a:defRPr>
            </a:pPr>
            <a:r>
              <a:t>JDBC direct ⚠️</a:t>
            </a:r>
            <a:br/>
            <a:r>
              <a:t>(violation archi)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760720" y="2606040"/>
            <a:ext cx="320040" cy="731520"/>
          </a:xfrm>
          <a:prstGeom prst="downArrow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4DFF"/>
                </a:solidFill>
                <a:latin typeface="Segoe UI"/>
              </a:defRPr>
            </a:pPr>
            <a:r>
              <a:t>JDBC / JPA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589520" y="1828800"/>
            <a:ext cx="1005840" cy="274320"/>
          </a:xfrm>
          <a:prstGeom prst="rightArrow">
            <a:avLst/>
          </a:prstGeom>
          <a:solidFill>
            <a:srgbClr val="FF4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4557"/>
                </a:solidFill>
                <a:latin typeface="Segoe UI"/>
              </a:defRPr>
            </a:pPr>
            <a:r>
              <a:t>← Batch CSV →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875520" y="2606040"/>
            <a:ext cx="320040" cy="731520"/>
          </a:xfrm>
          <a:prstGeom prst="downArrow">
            <a:avLst/>
          </a:prstGeom>
          <a:solidFill>
            <a:srgbClr val="FF4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926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557"/>
                </a:solidFill>
                <a:latin typeface="Segoe UI"/>
              </a:defRPr>
            </a:pPr>
            <a:r>
              <a:t>PL/SQL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29200"/>
            <a:ext cx="11247120" cy="1554480"/>
          </a:xfrm>
          <a:prstGeom prst="roundRect">
            <a:avLst/>
          </a:prstGeom>
          <a:solidFill>
            <a:srgbClr val="251515"/>
          </a:solidFill>
          <a:ln w="254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74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557"/>
                </a:solidFill>
                <a:latin typeface="Segoe UI"/>
              </a:defRPr>
            </a:pPr>
            <a:r>
              <a:t>⚠️ 9 anomalies architecturales majeures identifiées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🔴 Accès JDBC direct du front vers la BDD (contourne le back-end)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🔴 Logique métier éparpillée : front + back + BDD (PL/SQL)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🔴 WCF VB.NET sans code source — SPOF sur la gestion stocks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4406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🔴 Batch CSV quotidien SAP → 24h de latence sur les stocks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🔴 FTP sans Git — aucun contrôle de version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🟠 Oracle 11g R2 surdimensionné et coûteux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4. Points faibles identifiés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10058400" cy="475488"/>
          </a:xfrm>
          <a:prstGeom prst="roundRect">
            <a:avLst/>
          </a:prstGeom>
          <a:solidFill>
            <a:srgbClr val="301A1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34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57"/>
                </a:solidFill>
                <a:latin typeface="Segoe UI"/>
              </a:defRPr>
            </a:pPr>
            <a:r>
              <a:t>PF-01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Monolithe obsolète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234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4557"/>
                </a:solidFill>
                <a:latin typeface="Segoe UI"/>
              </a:defRPr>
            </a:pPr>
            <a:r>
              <a:t>🔴 Critique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755648"/>
            <a:ext cx="10058400" cy="475488"/>
          </a:xfrm>
          <a:prstGeom prst="roundRect">
            <a:avLst/>
          </a:prstGeom>
          <a:solidFill>
            <a:srgbClr val="301A1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57"/>
                </a:solidFill>
                <a:latin typeface="Segoe UI"/>
              </a:defRPr>
            </a:pPr>
            <a:r>
              <a:t>PF-02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80136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Logique métier éparpillée (3 couches)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8013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4557"/>
                </a:solidFill>
                <a:latin typeface="Segoe UI"/>
              </a:defRPr>
            </a:pPr>
            <a:r>
              <a:t>🔴 Critique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322576"/>
            <a:ext cx="10058400" cy="475488"/>
          </a:xfrm>
          <a:prstGeom prst="roundRect">
            <a:avLst/>
          </a:prstGeom>
          <a:solidFill>
            <a:srgbClr val="301A1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3682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57"/>
                </a:solidFill>
                <a:latin typeface="Segoe UI"/>
              </a:defRPr>
            </a:pPr>
            <a:r>
              <a:t>PF-03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36829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Stocks incohérents — perte de clients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3682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4557"/>
                </a:solidFill>
                <a:latin typeface="Segoe UI"/>
              </a:defRPr>
            </a:pPr>
            <a:r>
              <a:t>🔴 Critique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889504"/>
            <a:ext cx="10058400" cy="475488"/>
          </a:xfrm>
          <a:prstGeom prst="roundRect">
            <a:avLst/>
          </a:prstGeom>
          <a:solidFill>
            <a:srgbClr val="301A1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3522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57"/>
                </a:solidFill>
                <a:latin typeface="Segoe UI"/>
              </a:defRPr>
            </a:pPr>
            <a:r>
              <a:t>PF-04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9352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WCF sans code source — SPOF absolu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4557"/>
                </a:solidFill>
                <a:latin typeface="Segoe UI"/>
              </a:defRPr>
            </a:pPr>
            <a:r>
              <a:t>🔴 Critique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456432"/>
            <a:ext cx="10058400" cy="475488"/>
          </a:xfrm>
          <a:prstGeom prst="roundRect">
            <a:avLst/>
          </a:prstGeom>
          <a:solidFill>
            <a:srgbClr val="301A1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021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57"/>
                </a:solidFill>
                <a:latin typeface="Segoe UI"/>
              </a:defRPr>
            </a:pPr>
            <a:r>
              <a:t>PF-05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0215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Pas de gestion de configuration (FTP)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5021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4557"/>
                </a:solidFill>
                <a:latin typeface="Segoe UI"/>
              </a:defRPr>
            </a:pPr>
            <a:r>
              <a:t>🔴 Critique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023360"/>
            <a:ext cx="10058400" cy="475488"/>
          </a:xfrm>
          <a:prstGeom prst="roundRect">
            <a:avLst/>
          </a:prstGeom>
          <a:solidFill>
            <a:srgbClr val="30251A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069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PF-06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40690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BDD Oracle surdimensionnée &amp; coûteuse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6B35"/>
                </a:solidFill>
                <a:latin typeface="Segoe UI"/>
              </a:defRPr>
            </a:pPr>
            <a:r>
              <a:t>🟠 Élevé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590288"/>
            <a:ext cx="10058400" cy="475488"/>
          </a:xfrm>
          <a:prstGeom prst="roundRect">
            <a:avLst/>
          </a:prstGeom>
          <a:solidFill>
            <a:srgbClr val="30251A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63600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PF-07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463600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Sécurité insuffisante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63600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6B35"/>
                </a:solidFill>
                <a:latin typeface="Segoe UI"/>
              </a:defRPr>
            </a:pPr>
            <a:r>
              <a:t>🟠 Élevé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157216"/>
            <a:ext cx="10058400" cy="475488"/>
          </a:xfrm>
          <a:prstGeom prst="roundRect">
            <a:avLst/>
          </a:prstGeom>
          <a:solidFill>
            <a:srgbClr val="30251A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2029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PF-08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520293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Dette humaine &amp; organisationnelle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52029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6B35"/>
                </a:solidFill>
                <a:latin typeface="Segoe UI"/>
              </a:defRPr>
            </a:pPr>
            <a:r>
              <a:t>🟠 Élevé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724144"/>
            <a:ext cx="10058400" cy="475488"/>
          </a:xfrm>
          <a:prstGeom prst="roundRect">
            <a:avLst/>
          </a:prstGeom>
          <a:solidFill>
            <a:srgbClr val="302E1A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76986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93D"/>
                </a:solidFill>
                <a:latin typeface="Segoe UI"/>
              </a:defRPr>
            </a:pPr>
            <a:r>
              <a:t>PF-09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576986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Marque blanche non compétitive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576986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D93D"/>
                </a:solidFill>
                <a:latin typeface="Segoe UI"/>
              </a:defRPr>
            </a:pPr>
            <a:r>
              <a:t>🟡 Modéré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5. Exigences Non Fonctionnelles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618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57"/>
                </a:solidFill>
                <a:latin typeface="Segoe UI"/>
              </a:defRPr>
            </a:pPr>
            <a:r>
              <a:t>ENF-01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2618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2618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Catalogue &lt; 2s, APIs &lt; 500ms, pics x3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2618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★★★★★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57"/>
                </a:solidFill>
                <a:latin typeface="Segoe UI"/>
              </a:defRPr>
            </a:pPr>
            <a:r>
              <a:t>ENF-02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Disponibilité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9019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SLA ≥ 99,5%, RTO &lt; 4h, RPO &lt;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019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★★★★★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468880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5420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35"/>
                </a:solidFill>
                <a:latin typeface="Segoe UI"/>
              </a:defRPr>
            </a:pPr>
            <a:r>
              <a:t>ENF-03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54203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Scalabilité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420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Scale-out, expansion EU, B2C/B2B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5420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★★★★☆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108959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18211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57"/>
                </a:solidFill>
                <a:latin typeface="Segoe UI"/>
              </a:defRPr>
            </a:pPr>
            <a:r>
              <a:t>ENF-04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18211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Sécurité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18211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IAM centralisé, RGPD, PCI-DSS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18211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★★★★★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749039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2219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57"/>
                </a:solidFill>
                <a:latin typeface="Segoe UI"/>
              </a:defRPr>
            </a:pPr>
            <a:r>
              <a:t>ENF-05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82219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Maintenabilité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8221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Tests ≥ 70%, zéro PL/SQL, OpenAPI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82219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★★★★★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389120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462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35"/>
                </a:solidFill>
                <a:latin typeface="Segoe UI"/>
              </a:defRPr>
            </a:pPr>
            <a:r>
              <a:t>ENF-06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44622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Interopérabilité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4622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REST SAP, Stripe v3, Power 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462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★★★★☆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5029199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10235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  <a:latin typeface="Segoe UI"/>
              </a:defRPr>
            </a:pPr>
            <a:r>
              <a:t>ENF-07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10235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Portabilité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10235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Cloud-ready, Docker, CI/CD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510235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★★★☆☆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" y="5669279"/>
            <a:ext cx="10058400" cy="530352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74243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93D"/>
                </a:solidFill>
                <a:latin typeface="Segoe UI"/>
              </a:defRPr>
            </a:pPr>
            <a:r>
              <a:t>ENF-08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57424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Observabilité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57424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Logs centralisés, alertes auto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574243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★★★☆☆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6. Axes d'amélioration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291840" cy="1828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9A7"/>
                </a:solidFill>
                <a:latin typeface="Segoe UI"/>
              </a:defRPr>
            </a:pPr>
            <a:r>
              <a:t>AXE-01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Refonte architecture modulaire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Segoe UI"/>
              </a:defRPr>
            </a:pPr>
            <a:r>
              <a:t>→ PF-01, PF-02, PF-03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291840" cy="1828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17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Segoe UI"/>
              </a:defRPr>
            </a:pPr>
            <a:r>
              <a:t>AXE-02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Stocks temps réel (événementiel SAP)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Segoe UI"/>
              </a:defRPr>
            </a:pPr>
            <a:r>
              <a:t>→ PF-03, PF-04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291840" cy="1828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6D6"/>
                </a:solidFill>
                <a:latin typeface="Segoe UI"/>
              </a:defRPr>
            </a:pPr>
            <a:r>
              <a:t>AXE-03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920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Git +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Segoe UI"/>
              </a:defRPr>
            </a:pPr>
            <a:r>
              <a:t>→ PF-05, PF-08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3291840" cy="1828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7C4DFF"/>
                </a:solidFill>
                <a:latin typeface="Segoe UI"/>
              </a:defRPr>
            </a:pPr>
            <a:r>
              <a:t>AXE-04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Migration cloud &amp; rationalisation coûts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Segoe UI"/>
              </a:defRPr>
            </a:pPr>
            <a:r>
              <a:t>→ PF-01, PF-06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657600"/>
            <a:ext cx="3291840" cy="1828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794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B35"/>
                </a:solidFill>
                <a:latin typeface="Segoe UI"/>
              </a:defRPr>
            </a:pPr>
            <a:r>
              <a:t>AXE-05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97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Sécurité &amp; conformité RGPD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846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Segoe UI"/>
              </a:defRPr>
            </a:pPr>
            <a:r>
              <a:t>→ PF-07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657600"/>
            <a:ext cx="3291840" cy="1828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794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93D"/>
                </a:solidFill>
                <a:latin typeface="Segoe UI"/>
              </a:defRPr>
            </a:pPr>
            <a:r>
              <a:t>AXE-06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2976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Marque blanche SaaS multi-tenant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46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Segoe UI"/>
              </a:defRPr>
            </a:pPr>
            <a:r>
              <a:t>→ PF-09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7. Comparaison des styles architecturaux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10058400" cy="502920"/>
          </a:xfrm>
          <a:prstGeom prst="roundRect">
            <a:avLst/>
          </a:prstGeom>
          <a:solidFill>
            <a:srgbClr val="252545"/>
          </a:solidFill>
          <a:ln w="127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96D6"/>
                </a:solidFill>
                <a:latin typeface="Segoe UI"/>
              </a:defRPr>
            </a:pPr>
            <a:r>
              <a:t>Style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234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96D6"/>
                </a:solidFill>
                <a:latin typeface="Segoe UI"/>
              </a:defRPr>
            </a:pPr>
            <a:r>
              <a:t>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34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96D6"/>
                </a:solidFill>
                <a:latin typeface="Segoe UI"/>
              </a:defRPr>
            </a:pPr>
            <a:r>
              <a:t>Verdict BricoLoc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783080"/>
            <a:ext cx="10058400" cy="502920"/>
          </a:xfrm>
          <a:prstGeom prst="roundRect">
            <a:avLst/>
          </a:prstGeom>
          <a:solidFill>
            <a:srgbClr val="1E2E1E"/>
          </a:solidFill>
          <a:ln w="127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562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Monolithe modulaire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5623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C9A7"/>
                </a:solidFill>
                <a:latin typeface="Segoe UI"/>
              </a:defRPr>
            </a:pPr>
            <a:r>
              <a:t>40/55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C9A7"/>
                </a:solidFill>
                <a:latin typeface="Segoe UI"/>
              </a:defRPr>
            </a:pPr>
            <a:r>
              <a:t>✅ Retenu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377440"/>
            <a:ext cx="10058400" cy="502920"/>
          </a:xfrm>
          <a:prstGeom prst="roundRect">
            <a:avLst/>
          </a:prstGeom>
          <a:solidFill>
            <a:srgbClr val="1E2E1E"/>
          </a:solidFill>
          <a:ln w="127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4505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Événementiel ciblé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505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C9A7"/>
                </a:solidFill>
                <a:latin typeface="Segoe UI"/>
              </a:defRPr>
            </a:pPr>
            <a:r>
              <a:t>40/55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5059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C9A7"/>
                </a:solidFill>
                <a:latin typeface="Segoe UI"/>
              </a:defRPr>
            </a:pPr>
            <a:r>
              <a:t>✅ Retenu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971800"/>
            <a:ext cx="10058400" cy="502920"/>
          </a:xfrm>
          <a:prstGeom prst="roundRect">
            <a:avLst/>
          </a:prstGeom>
          <a:solidFill>
            <a:srgbClr val="2E1E1E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044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Microservices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044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4557"/>
                </a:solidFill>
                <a:latin typeface="Segoe UI"/>
              </a:defRPr>
            </a:pPr>
            <a:r>
              <a:t>39/55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4495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4557"/>
                </a:solidFill>
                <a:latin typeface="Segoe UI"/>
              </a:defRPr>
            </a:pPr>
            <a:r>
              <a:t>❌ Trop complexe pour 5 devs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566160"/>
            <a:ext cx="10058400" cy="502920"/>
          </a:xfrm>
          <a:prstGeom prst="roundRect">
            <a:avLst/>
          </a:prstGeom>
          <a:solidFill>
            <a:srgbClr val="2E1E1E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6393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SOA / ESB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6393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4557"/>
                </a:solidFill>
                <a:latin typeface="Segoe UI"/>
              </a:defRPr>
            </a:pPr>
            <a:r>
              <a:t>33/55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39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4557"/>
                </a:solidFill>
                <a:latin typeface="Segoe UI"/>
              </a:defRPr>
            </a:pPr>
            <a:r>
              <a:t>❌ ESB disproportionné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160520"/>
            <a:ext cx="10058400" cy="502920"/>
          </a:xfrm>
          <a:prstGeom prst="roundRect">
            <a:avLst/>
          </a:prstGeom>
          <a:solidFill>
            <a:srgbClr val="2E1E1E"/>
          </a:solidFill>
          <a:ln w="127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33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N-tiers (actuel)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233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4557"/>
                </a:solidFill>
                <a:latin typeface="Segoe UI"/>
              </a:defRPr>
            </a:pPr>
            <a:r>
              <a:t>23/55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23367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4557"/>
                </a:solidFill>
                <a:latin typeface="Segoe UI"/>
              </a:defRPr>
            </a:pPr>
            <a:r>
              <a:t>❌ Source des problèmes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9A7"/>
                </a:solidFill>
                <a:latin typeface="Segoe UI"/>
              </a:defRPr>
            </a:pPr>
            <a:r>
              <a:t>Recommandation : architecture hybride</a:t>
            </a:r>
            <a:br/>
            <a:r>
              <a:t>Monolithe modulaire + Événementiel ciblé + APIs REST (SOA légère sans ESB)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8. Styles retenus &amp; justification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3291840" cy="347472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7C4DFF"/>
                </a:solidFill>
                <a:latin typeface="Segoe UI"/>
              </a:defRPr>
            </a:pPr>
            <a:r>
              <a:t>Monolithe modulaire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93D"/>
                </a:solidFill>
                <a:latin typeface="Segoe UI"/>
              </a:defRPr>
            </a:pPr>
            <a:r>
              <a:t>Core applicatif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1 JAR, 9 modules Maven isolés</a:t>
            </a:r>
            <a:br/>
            <a:r>
              <a:t>Faisable par 5 devs, ACID natif</a:t>
            </a:r>
            <a:br/>
            <a:r>
              <a:t>Strangler Fig compatible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188720"/>
            <a:ext cx="3291840" cy="347472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25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B35"/>
                </a:solidFill>
                <a:latin typeface="Segoe UI"/>
              </a:defRPr>
            </a:pPr>
            <a:r>
              <a:t>Événementiel ciblé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93D"/>
                </a:solidFill>
                <a:latin typeface="Segoe UI"/>
              </a:defRPr>
            </a:pPr>
            <a:r>
              <a:t>Stocks &amp; notifications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RabbitMQ sur flux asynchrones</a:t>
            </a:r>
            <a:br/>
            <a:r>
              <a:t>Remplace batch CSV quotidien</a:t>
            </a:r>
            <a:br/>
            <a:r>
              <a:t>Isole les pannes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188720"/>
            <a:ext cx="3291840" cy="347472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325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Segoe UI"/>
              </a:defRPr>
            </a:pPr>
            <a:r>
              <a:t>APIs 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93D"/>
                </a:solidFill>
                <a:latin typeface="Segoe UI"/>
              </a:defRPr>
            </a:pPr>
            <a:r>
              <a:t>Intégrations &amp; marque blanche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37744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Contrats OpenAPI versionnés</a:t>
            </a:r>
            <a:br/>
            <a:r>
              <a:t>SOA légère sans ESB</a:t>
            </a:r>
            <a:br/>
            <a:r>
              <a:t>Partenaires en self-service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557"/>
                </a:solidFill>
                <a:latin typeface="Segoe UI"/>
              </a:defRPr>
            </a:pPr>
            <a:r>
              <a:t>Styles écartés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Microservices purs (complexité DevOps)  ·  SOA/ESB (disproportionné PME)  ·  N-tiers reconduit (source des problèmes)  ·  Serverless (incompatible état persistant)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9. Choix technologiques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5303520" cy="22860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Framework back-end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A7"/>
                </a:solidFill>
                <a:latin typeface="Segoe UI"/>
              </a:defRPr>
            </a:pPr>
            <a:r>
              <a:t>Spring Boot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93D"/>
                </a:solidFill>
                <a:latin typeface="Segoe UI"/>
              </a:defRPr>
            </a:pPr>
            <a:r>
              <a:t>4,90/5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Compétences équipe</a:t>
            </a:r>
            <a:br/>
            <a:r>
              <a:t>Migration incrémentale Spring 5</a:t>
            </a:r>
            <a:br/>
            <a:r>
              <a:t>Open-source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03520" cy="22860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SGBDR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Segoe UI"/>
              </a:defRPr>
            </a:pPr>
            <a:r>
              <a:t>PostgreSQL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93D"/>
                </a:solidFill>
                <a:latin typeface="Segoe UI"/>
              </a:defRPr>
            </a:pPr>
            <a:r>
              <a:t>4,60/5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94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Open-source, cloud-natif</a:t>
            </a:r>
            <a:br/>
            <a:r>
              <a:t>Élimine surcoût Oracle</a:t>
            </a:r>
            <a:br/>
            <a:r>
              <a:t>PL/pgSQL compatible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Bus de messages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Segoe UI"/>
              </a:defRPr>
            </a:pPr>
            <a:r>
              <a:t>RabbitMQ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206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93D"/>
                </a:solidFill>
                <a:latin typeface="Segoe UI"/>
              </a:defRPr>
            </a:pPr>
            <a:r>
              <a:t>4,55/5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Simple pour 5 devs</a:t>
            </a:r>
            <a:br/>
            <a:r>
              <a:t>Compatible Spring AMQP</a:t>
            </a:r>
            <a:br/>
            <a:r>
              <a:t>Adapté aux volumes BricoLoc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303520" cy="22860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023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4DFF"/>
                </a:solidFill>
                <a:latin typeface="Segoe UI"/>
              </a:defRPr>
            </a:pPr>
            <a:r>
              <a:t>Microsoft Azure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4206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93D"/>
                </a:solidFill>
                <a:latin typeface="Segoe UI"/>
              </a:defRPr>
            </a:pPr>
            <a:r>
              <a:t>4,75/5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Segoe UI"/>
              </a:defRPr>
            </a:pPr>
            <a:r>
              <a:t>Continuité écosystème MS</a:t>
            </a:r>
            <a:br/>
            <a:r>
              <a:t>Azure AD, Power BI, Office 365</a:t>
            </a:r>
            <a:br/>
            <a:r>
              <a:t>Support PostgreSQL managé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10. Architecture logique — Vue d'ensemble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097280"/>
            <a:ext cx="8229600" cy="640080"/>
          </a:xfrm>
          <a:prstGeom prst="roundRect">
            <a:avLst/>
          </a:prstGeom>
          <a:solidFill>
            <a:srgbClr val="1A3A5C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11430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Segoe UI"/>
              </a:defRPr>
            </a:pPr>
            <a:r>
              <a:t>🌐 Couche Clients — Web · Mobile · Partenaires · Salariés SSO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52160" y="1755648"/>
            <a:ext cx="365760" cy="320040"/>
          </a:xfrm>
          <a:prstGeom prst="downArrow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556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Segoe UI"/>
              </a:defRPr>
            </a:pPr>
            <a:r>
              <a:t>HTTPS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103120"/>
            <a:ext cx="8229600" cy="640080"/>
          </a:xfrm>
          <a:prstGeom prst="roundRect">
            <a:avLst/>
          </a:prstGeom>
          <a:solidFill>
            <a:srgbClr val="1A3C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🔒 API Gateway — Spring Cloud Gateway — JWT · Rate Limit · TLS · Routage /api/v1/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52160" y="2761488"/>
            <a:ext cx="365760" cy="320040"/>
          </a:xfrm>
          <a:prstGeom prst="down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761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Segoe UI"/>
              </a:defRPr>
            </a:pPr>
            <a:r>
              <a:t>Route authentifiée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3108960"/>
            <a:ext cx="8229600" cy="1371600"/>
          </a:xfrm>
          <a:prstGeom prst="roundRect">
            <a:avLst/>
          </a:prstGeom>
          <a:solidFill>
            <a:srgbClr val="2A1A4A"/>
          </a:solidFill>
          <a:ln w="381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312724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⚙️ Monolithe Modulaire — Spring Boot 3 / Java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📦 Catalogue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📅 Réservation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📊 Stocks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7947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💳 Paiement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7947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👥 Utilisateurs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7947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🔔 Notifications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114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🛠️ 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114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🏷️ Marque Blanche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114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🔗 Intégration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4572000" y="4498848"/>
            <a:ext cx="365760" cy="320040"/>
          </a:xfrm>
          <a:prstGeom prst="down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44988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Segoe UI"/>
              </a:defRPr>
            </a:pPr>
            <a:r>
              <a:t>Publie</a:t>
            </a:r>
          </a:p>
        </p:txBody>
      </p:sp>
      <p:sp>
        <p:nvSpPr>
          <p:cNvPr id="25" name="Up Arrow 24"/>
          <p:cNvSpPr/>
          <p:nvPr/>
        </p:nvSpPr>
        <p:spPr>
          <a:xfrm>
            <a:off x="6858000" y="4498848"/>
            <a:ext cx="365760" cy="320040"/>
          </a:xfrm>
          <a:prstGeom prst="up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44988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Segoe UI"/>
              </a:defRPr>
            </a:pPr>
            <a:r>
              <a:t>Consomme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4846320"/>
            <a:ext cx="8229600" cy="640080"/>
          </a:xfrm>
          <a:prstGeom prst="roundRect">
            <a:avLst/>
          </a:prstGeom>
          <a:solidFill>
            <a:srgbClr val="3A2A1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48737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📨 Bus Événementiel — RabbitMQ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14807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Segoe UI"/>
              </a:defRPr>
            </a:pPr>
            <a:r>
              <a:t>StockUpdated · ReservationCreated/Confirmed · PaymentValidated · PriceUpdated · StockLow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852160" y="5504688"/>
            <a:ext cx="365760" cy="320040"/>
          </a:xfrm>
          <a:prstGeom prst="downArrow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55046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9A7"/>
                </a:solidFill>
                <a:latin typeface="Segoe UI"/>
              </a:defRPr>
            </a:pPr>
            <a:r>
              <a:t>Persistance &amp; Cache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852160"/>
            <a:ext cx="8229600" cy="640080"/>
          </a:xfrm>
          <a:prstGeom prst="roundRect">
            <a:avLst/>
          </a:prstGeom>
          <a:solidFill>
            <a:srgbClr val="1A3A1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58795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Segoe UI"/>
              </a:defRPr>
            </a:pPr>
            <a:r>
              <a:t>💾 Couche Données — PostgreSQL 16 (schéma/module) · Redis (cache) · Azure Blob Storage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" y="2743200"/>
            <a:ext cx="1463040" cy="3840480"/>
          </a:xfrm>
          <a:prstGeom prst="roundRect">
            <a:avLst/>
          </a:prstGeom>
          <a:solidFill>
            <a:srgbClr val="3A1A2A"/>
          </a:solidFill>
          <a:ln w="254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8600" y="2788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4557"/>
                </a:solidFill>
                <a:latin typeface="Segoe UI"/>
              </a:defRPr>
            </a:pPr>
            <a:r>
              <a:t>🌍 Systèmes Tiers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108960"/>
            <a:ext cx="1371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📋 SAP B1</a:t>
            </a: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   (Stocks/Compta)</a:t>
            </a: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💳 Stripe</a:t>
            </a: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   (Paiement)</a:t>
            </a: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📊 Comp. Prix</a:t>
            </a: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   (SaaS)</a:t>
            </a: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📈 Power BI</a:t>
            </a:r>
          </a:p>
          <a:p>
            <a:pPr>
              <a:spcAft>
                <a:spcPts val="600"/>
              </a:spcAft>
              <a:defRPr sz="900">
                <a:solidFill>
                  <a:srgbClr val="CCCCCC"/>
                </a:solidFill>
                <a:latin typeface="Segoe UI"/>
              </a:defRPr>
            </a:pPr>
            <a:r>
              <a:t>   (Analytics)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664208" y="3474720"/>
            <a:ext cx="457200" cy="228600"/>
          </a:xfrm>
          <a:prstGeom prst="rightArrow">
            <a:avLst/>
          </a:prstGeom>
          <a:solidFill>
            <a:srgbClr val="FF4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Left Arrow 37"/>
          <p:cNvSpPr/>
          <p:nvPr/>
        </p:nvSpPr>
        <p:spPr>
          <a:xfrm>
            <a:off x="1664208" y="3931920"/>
            <a:ext cx="457200" cy="228600"/>
          </a:xfrm>
          <a:prstGeom prst="leftArrow">
            <a:avLst/>
          </a:prstGeom>
          <a:solidFill>
            <a:srgbClr val="FF4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1879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4557"/>
                </a:solidFill>
                <a:latin typeface="Segoe UI"/>
              </a:defRPr>
            </a:pPr>
            <a:r>
              <a:t>REST &amp;</a:t>
            </a:r>
            <a:br/>
            <a:r>
              <a:t>Webhooks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10b. Modules &amp; interactions événementielles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Segoe UI"/>
              </a:defRPr>
            </a:pPr>
            <a:r>
              <a:t>📦 Catalogue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Outils, catégories</a:t>
            </a:r>
            <a:br/>
            <a:r>
              <a:t>Recherche, prix</a:t>
            </a:r>
            <a:br/>
            <a:r>
              <a:t>Cache Redis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097280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📅 Réservation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Cycle de vie location</a:t>
            </a:r>
            <a:br/>
            <a:r>
              <a:t>Calendrier, P2P</a:t>
            </a:r>
            <a:br/>
            <a:r>
              <a:t>Annulation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097280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📊 Stocks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463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Source de vérité</a:t>
            </a:r>
            <a:br/>
            <a:r>
              <a:t>Temps réel SAP</a:t>
            </a:r>
            <a:br/>
            <a:r>
              <a:t>Inter-entrepôts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606039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5175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57"/>
                </a:solidFill>
                <a:latin typeface="Segoe UI"/>
              </a:defRPr>
            </a:pPr>
            <a:r>
              <a:t>💳 Paiement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71799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Stripe v3, PCI-DSS</a:t>
            </a:r>
            <a:br/>
            <a:r>
              <a:t>Transactions</a:t>
            </a:r>
            <a:br/>
            <a:r>
              <a:t>Remboursements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2606039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265175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👥 Utilisateurs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971799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Auth JWT, RBAC</a:t>
            </a:r>
            <a:br/>
            <a:r>
              <a:t>5 rôles métier</a:t>
            </a:r>
            <a:br/>
            <a:r>
              <a:t>RGPD, Azure 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606039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65175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93D"/>
                </a:solidFill>
                <a:latin typeface="Segoe UI"/>
              </a:defRPr>
            </a:pPr>
            <a:r>
              <a:t>🔔 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971799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Emails transac.</a:t>
            </a:r>
            <a:br/>
            <a:r>
              <a:t>Alertes logisticiens</a:t>
            </a:r>
            <a:br/>
            <a:r>
              <a:t>Chat, Push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114800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160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Segoe UI"/>
              </a:defRPr>
            </a:pPr>
            <a:r>
              <a:t>🛠️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Back-office</a:t>
            </a:r>
            <a:br/>
            <a:r>
              <a:t>Gestion catalogue</a:t>
            </a:r>
            <a:br/>
            <a:r>
              <a:t>Gestion partenaires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114800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80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4160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0AB"/>
                </a:solidFill>
                <a:latin typeface="Segoe UI"/>
              </a:defRPr>
            </a:pPr>
            <a:r>
              <a:t>🏷️ Marque Blanche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Multi-tenant</a:t>
            </a:r>
            <a:br/>
            <a:r>
              <a:t>Isolation données</a:t>
            </a:r>
            <a:br/>
            <a:r>
              <a:t>APIs partenaire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114800"/>
            <a:ext cx="3474720" cy="123444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82B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4160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2B1FF"/>
                </a:solidFill>
                <a:latin typeface="Segoe UI"/>
              </a:defRPr>
            </a:pPr>
            <a:r>
              <a:t>🔗 Intégration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Passerelle unique</a:t>
            </a:r>
            <a:br/>
            <a:r>
              <a:t>SAP, Prix, Power BI</a:t>
            </a:r>
            <a:br/>
            <a:r>
              <a:t>Spring Batch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5623560"/>
            <a:ext cx="11430000" cy="1051560"/>
          </a:xfrm>
          <a:prstGeom prst="roundRect">
            <a:avLst/>
          </a:prstGeom>
          <a:solidFill>
            <a:srgbClr val="252035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6509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🔀 Flux événementiels (RabbitMQ)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436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Stocks → StockUpdated → Catalogue, Notifications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Stocks → StockLow → Admin, Notifications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59436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Réservation → ReservationCreated → Paiement, Notifications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Paiement → PaymentValidated → Réservation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9436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Intégration → PriceUpdated → Catalogue</a:t>
            </a:r>
          </a:p>
          <a:p>
            <a:pPr>
              <a:spcAft>
                <a:spcPts val="600"/>
              </a:spcAft>
              <a:defRPr sz="1100">
                <a:solidFill>
                  <a:srgbClr val="CCCCCC"/>
                </a:solidFill>
                <a:latin typeface="Segoe UI"/>
              </a:defRPr>
            </a:pPr>
            <a:r>
              <a:t>Tous événements → Notifications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11. Stratégie de migration — Strangler Fig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417320" cy="4114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96D6"/>
                </a:solidFill>
                <a:latin typeface="Segoe UI"/>
              </a:defRPr>
            </a:pPr>
            <a:r>
              <a:t>Phase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Segoe UI"/>
              </a:defRPr>
            </a:pPr>
            <a:r>
              <a:t>2-3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325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Fondations</a:t>
            </a:r>
            <a:br/>
            <a:r>
              <a:t>Git, CI/CD</a:t>
            </a:r>
            <a:br/>
            <a:r>
              <a:t>PostgreSQL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371600"/>
            <a:ext cx="1417320" cy="4114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9202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Segoe UI"/>
              </a:defRPr>
            </a:pPr>
            <a:r>
              <a:t>3-4 mois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377440"/>
            <a:ext cx="1325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Stocks</a:t>
            </a:r>
            <a:br/>
            <a:r>
              <a:t>+ RabbitMQ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371600"/>
            <a:ext cx="1417320" cy="4114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Segoe UI"/>
              </a:defRPr>
            </a:pPr>
            <a: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9202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Segoe UI"/>
              </a:defRPr>
            </a:pPr>
            <a:r>
              <a:t>2-3 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377440"/>
            <a:ext cx="1325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Utilisateurs</a:t>
            </a:r>
            <a:br/>
            <a:r>
              <a:t>&amp; Auth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371600"/>
            <a:ext cx="1417320" cy="4114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9202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Segoe UI"/>
              </a:defRPr>
            </a:pPr>
            <a:r>
              <a:t>4-6 mois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377440"/>
            <a:ext cx="1325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Catalogue</a:t>
            </a:r>
            <a:br/>
            <a:r>
              <a:t>&amp; Réservation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1371600"/>
            <a:ext cx="1417320" cy="4114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9202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Segoe UI"/>
              </a:defRPr>
            </a:pPr>
            <a:r>
              <a:t>2-3 mois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377440"/>
            <a:ext cx="1325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Paiement</a:t>
            </a:r>
            <a:br/>
            <a:r>
              <a:t>&amp; Notifications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1371600"/>
            <a:ext cx="1417320" cy="4114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93D"/>
                </a:solidFill>
                <a:latin typeface="Segoe UI"/>
              </a:defRPr>
            </a:pPr>
            <a:r>
              <a:t>Phase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9202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Segoe UI"/>
              </a:defRPr>
            </a:pPr>
            <a:r>
              <a:t>3-4 mois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377440"/>
            <a:ext cx="1325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Marque blanche</a:t>
            </a:r>
            <a:br/>
            <a:r>
              <a:t>&amp; i18n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1371600"/>
            <a:ext cx="1417320" cy="41148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4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0412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4557"/>
                </a:solidFill>
                <a:latin typeface="Segoe UI"/>
              </a:defRPr>
            </a:pPr>
            <a:r>
              <a:t>Phase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4120" y="192024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Segoe UI"/>
              </a:defRPr>
            </a:pPr>
            <a:r>
              <a:t>1-2 mois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04120" y="2377440"/>
            <a:ext cx="1325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Segoe UI"/>
              </a:defRPr>
            </a:pPr>
            <a:r>
              <a:t>Extinction</a:t>
            </a:r>
            <a:br/>
            <a:r>
              <a:t>WCF &amp; Legacy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60720"/>
            <a:ext cx="11247120" cy="54864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C9A7"/>
                </a:solidFill>
                <a:latin typeface="Segoe UI"/>
              </a:defRPr>
            </a:pPr>
            <a:r>
              <a:t>Migration progressive — coexistence ancien / nouveau système — aucun Big Bang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Règles d'architecture (garde-fous)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280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Aucun module ne peut accéder directement aux tables d'un autre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47088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938528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Zéro logique métier dans les couches de persistance (pas de triggers/PL/SQL)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05456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59689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596896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Toute communication avec un système tiers passe par le module Intégration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163824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5526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255264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Toute requête externe passe par l'API Gateway avec un token JWT valide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13631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913631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Aucune donnée de carte bancaire ne transite côté BricoLoc (tout chez Stripe)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480559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57199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571999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Chaque module possède son propre schéma de BDD logique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138928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230368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Chaque événement publié sur RabbitMQ est versionné (v1.StockUpdated)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797296"/>
            <a:ext cx="100584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88873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R08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888736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Tout code est committé sur Git — aucun déploiement manuel FTP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  <a:latin typeface="Segoe UI"/>
              </a:defRPr>
            </a:pPr>
            <a:r>
              <a:t>Répartition équipe développeurs BricoLoc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36576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103120" cy="32004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D6"/>
                </a:solidFill>
                <a:latin typeface="Segoe UI"/>
              </a:defRPr>
            </a:pPr>
            <a:r>
              <a:t>Marion 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Java back-end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reservation</a:t>
            </a:r>
            <a:br/>
            <a:r>
              <a:t>stocks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371600"/>
            <a:ext cx="2103120" cy="32004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  <a:latin typeface="Segoe UI"/>
              </a:defRPr>
            </a:pPr>
            <a:r>
              <a:t>Piotr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Java full-stack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74320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catalogue</a:t>
            </a:r>
            <a:br/>
            <a:r>
              <a:t>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03120" cy="32004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C4DFF"/>
                </a:solidFill>
                <a:latin typeface="Segoe UI"/>
              </a:defRPr>
            </a:pPr>
            <a:r>
              <a:t>Thibaut 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Java back-end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74320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utilisateurs</a:t>
            </a:r>
            <a:br/>
            <a:r>
              <a:t>marque-blanche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371600"/>
            <a:ext cx="2103120" cy="32004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  <a:latin typeface="Segoe UI"/>
              </a:defRPr>
            </a:pPr>
            <a:r>
              <a:t>Hervé 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.NET / Java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74320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paiement</a:t>
            </a:r>
            <a:br/>
            <a:r>
              <a:t>intégration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371600"/>
            <a:ext cx="2103120" cy="32004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15544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9A7"/>
                </a:solidFill>
                <a:latin typeface="Segoe UI"/>
              </a:defRPr>
            </a:pPr>
            <a:r>
              <a:t>Isabelle 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D93D"/>
                </a:solidFill>
                <a:latin typeface="Segoe UI"/>
              </a:defRPr>
            </a:pPr>
            <a:r>
              <a:t>Python /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74320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Segoe UI"/>
              </a:defRPr>
            </a:pPr>
            <a:r>
              <a:t>analytics</a:t>
            </a:r>
            <a:br/>
            <a:r>
              <a:t>Power BI ·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Chaque développeur possède un périmètre clair → limite les conflits Git, distribue la complexité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926080"/>
            <a:ext cx="12191695" cy="73152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C9A7"/>
                </a:solidFill>
                <a:latin typeface="Segoe UI"/>
              </a:defRPr>
            </a:pPr>
            <a:r>
              <a:t>12. Conclusion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✅  Architecture hybride adaptée : monolithe modulaire + événementiel + REST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✅  Stack maîtrisée par l'équipe : Spring Boot 3, PostgreSQL 16, RabbitMQ, Azure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✅  Migration progressive Strangler Fig : 7 phases, zéro Big Bang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✅  Tous les points faibles adressés (PF-01 → PF-09)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Segoe UI"/>
              </a:defRPr>
            </a:pPr>
            <a:r>
              <a:t>✅  8 règles d'architecture pour éviter les dérives du SI actuel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6D6"/>
                </a:solidFill>
                <a:latin typeface="Segoe UI"/>
              </a:defRPr>
            </a:pPr>
            <a:r>
              <a:t>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486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📈 Expansion européenne (Phase 5) — i18n et multi-entrepôts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🔄 Extraction future en microservices si l'équipe grandit</a:t>
            </a:r>
          </a:p>
          <a:p>
            <a:pPr>
              <a:spcAft>
                <a:spcPts val="600"/>
              </a:spcAft>
              <a:defRPr sz="1500">
                <a:solidFill>
                  <a:srgbClr val="CCCCCC"/>
                </a:solidFill>
                <a:latin typeface="Segoe UI"/>
              </a:defRPr>
            </a:pPr>
            <a:r>
              <a:t>📱 Application mobile native (post-migration)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3108960"/>
            <a:ext cx="12191695" cy="73152"/>
          </a:xfrm>
          <a:prstGeom prst="round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7C4DFF"/>
                </a:solidFill>
                <a:latin typeface="Segoe UI"/>
              </a:defRPr>
            </a:pPr>
            <a: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BB"/>
                </a:solidFill>
                <a:latin typeface="Segoe UI"/>
              </a:defRPr>
            </a:pPr>
            <a:r>
              <a:t>Romain  ·  Maëlle  ·  Loris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BB"/>
                </a:solidFill>
                <a:latin typeface="Segoe UI"/>
              </a:defRPr>
            </a:pPr>
            <a:r>
              <a:t>Master 1 Architecte d'Application — CESI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